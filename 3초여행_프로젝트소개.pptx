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://127.0.0.1:8080/index-redesign.html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://127.0.0.1:8080/index-redesign.html" TargetMode="External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://127.0.0.1:8080/index-redesign.html" TargetMode="External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://127.0.0.1:8080/index-redesign.html" TargetMode="External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://127.0.0.1:8080/index-redesign.html" TargetMode="External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://127.0.0.1:8080/index-redesign.html" TargetMode="External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320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AI TRAVEL ROADMAP PLANNER</a:t>
            </a:r>
          </a:p>
        </p:txBody>
      </p:sp>
      <p:pic>
        <p:nvPicPr>
          <p:cNvPr id="4" name="Picture 3" descr="logo_stacked_r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900" y="952500"/>
            <a:ext cx="2616200" cy="20615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3153788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0" spc="100">
                <a:solidFill>
                  <a:srgbClr val="A1A1A6"/>
                </a:solidFill>
                <a:latin typeface="Pretendard SemiBold"/>
                <a:ea typeface="Pretendard SemiBold"/>
                <a:cs typeface="Pretendard SemiBold"/>
              </a:rPr>
              <a:t>3초 여행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96688"/>
            <a:ext cx="1219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spc="60">
                <a:solidFill>
                  <a:srgbClr val="A1A1A6"/>
                </a:solidFill>
                <a:latin typeface="Pretendard"/>
                <a:ea typeface="Pretendard"/>
                <a:cs typeface="Pretendard"/>
              </a:rPr>
              <a:t>실시간 데이터와 AI로 완성하는 나만의 맞춤 여행 일정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5156200"/>
            <a:ext cx="3606800" cy="546100"/>
          </a:xfrm>
          <a:prstGeom prst="roundRect">
            <a:avLst>
              <a:gd name="adj" fmla="val 50000"/>
            </a:avLst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400" y="5156200"/>
            <a:ext cx="3302000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spc="30">
                <a:solidFill>
                  <a:srgbClr val="F5F5F7"/>
                </a:solidFill>
                <a:latin typeface="Pretendard SemiBold"/>
                <a:ea typeface="Pretendard SemiBold"/>
                <a:cs typeface="Pretendard SemiBold"/>
              </a:rPr>
              <a:t>FastAPI · FE / BE / admin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2600" y="5156200"/>
            <a:ext cx="3606800" cy="546100"/>
          </a:xfrm>
          <a:prstGeom prst="roundRect">
            <a:avLst>
              <a:gd name="adj" fmla="val 50000"/>
            </a:avLst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56200"/>
            <a:ext cx="3302000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spc="30">
                <a:solidFill>
                  <a:srgbClr val="F5F5F7"/>
                </a:solidFill>
                <a:latin typeface="Pretendard SemiBold"/>
                <a:ea typeface="Pretendard SemiBold"/>
                <a:cs typeface="Pretendard SemiBold"/>
              </a:rPr>
              <a:t>Google Places · SerpApi 실시간 요금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5156200"/>
            <a:ext cx="3606800" cy="546100"/>
          </a:xfrm>
          <a:prstGeom prst="roundRect">
            <a:avLst>
              <a:gd name="adj" fmla="val 50000"/>
            </a:avLst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5156200"/>
            <a:ext cx="3302000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spc="30">
                <a:solidFill>
                  <a:srgbClr val="F5F5F7"/>
                </a:solidFill>
                <a:latin typeface="Pretendard SemiBold"/>
                <a:ea typeface="Pretendard SemiBold"/>
                <a:cs typeface="Pretendard SemiBold"/>
              </a:rPr>
              <a:t>빌드리스 ES-module SPA</a:t>
            </a:r>
          </a:p>
        </p:txBody>
      </p:sp>
      <p:pic>
        <p:nvPicPr>
          <p:cNvPr id="13" name="Picture 12" descr="logo_symbol_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Pretendard"/>
                <a:ea typeface="Pretendard"/>
                <a:cs typeface="Pretendard"/>
              </a:rPr>
              <a:t>프로젝트 소개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프로젝트 배경부터 구현, 그리고 실제 화면까지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E2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02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1651000"/>
            <a:ext cx="3606800" cy="4356100"/>
          </a:xfrm>
          <a:prstGeom prst="roundRect">
            <a:avLst>
              <a:gd name="adj" fmla="val 3169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1892300"/>
            <a:ext cx="3175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2387600"/>
            <a:ext cx="3175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spc="5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들어가며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900" y="269240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2895600"/>
            <a:ext cx="3175000" cy="2908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3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· </a:t>
            </a: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계기와 문제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3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· </a:t>
            </a: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솔루션 — 3초 여행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3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· </a:t>
            </a: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기존 앱과의 차별점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3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· </a:t>
            </a: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사용자 흐름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3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· </a:t>
            </a: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숫자로 보는 3초 여행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2600" y="1651000"/>
            <a:ext cx="3606800" cy="4356100"/>
          </a:xfrm>
          <a:prstGeom prst="roundRect">
            <a:avLst>
              <a:gd name="adj" fmla="val 3169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8500" y="1892300"/>
            <a:ext cx="3175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8500" y="2387600"/>
            <a:ext cx="3175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spc="5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어떻게 만들었나 (쉽게)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08500" y="269240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8500" y="2895600"/>
            <a:ext cx="3175000" cy="2908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3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· </a:t>
            </a: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시스템 구조 (화면·서버·관리자)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3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· </a:t>
            </a: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데이터는 어디에 저장되나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3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· </a:t>
            </a: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어떤 API로 가져오나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3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· </a:t>
            </a: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쓴 기술 요약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7200" y="1651000"/>
            <a:ext cx="3606800" cy="4356100"/>
          </a:xfrm>
          <a:prstGeom prst="roundRect">
            <a:avLst>
              <a:gd name="adj" fmla="val 3169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100" y="1892300"/>
            <a:ext cx="3175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100" y="2387600"/>
            <a:ext cx="3175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spc="5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화면 미리보기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100" y="269240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100" y="2895600"/>
            <a:ext cx="3175000" cy="2908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3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· </a:t>
            </a: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홈 · 새 여행 만들기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3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· </a:t>
            </a: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일정 — 지도 · 시간표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3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· </a:t>
            </a: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탐색 · 마이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000" y="6121400"/>
            <a:ext cx="111760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다음 단계  ·  </a:t>
            </a:r>
            <a:r>
              <a:rPr sz="135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MVP 구현 — 핵심 기능부터 실제 제품으로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INTRODUCTION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여행은 설레는데, 계획은 노동이었다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가고 싶은 도시는 정했지만 ‘무엇을 어떤 순서로’가 막막하다 — 기존 방식의 네 가지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E2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03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1663700"/>
            <a:ext cx="2679700" cy="2984500"/>
          </a:xfrm>
          <a:prstGeom prst="roundRect">
            <a:avLst>
              <a:gd name="adj" fmla="val 3791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41500"/>
            <a:ext cx="23241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1700"/>
            <a:ext cx="2794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298700"/>
            <a:ext cx="23241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spc="5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정보 분산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67000"/>
            <a:ext cx="23241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맛집·명소·숙소가 블로그·지도·예약앱에 흩어져 매번 수작업으로 취합해야 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0100" y="1663700"/>
            <a:ext cx="2679700" cy="2984500"/>
          </a:xfrm>
          <a:prstGeom prst="roundRect">
            <a:avLst>
              <a:gd name="adj" fmla="val 3791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7900" y="1841500"/>
            <a:ext cx="23241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17900" y="2171700"/>
            <a:ext cx="2794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17900" y="2298700"/>
            <a:ext cx="23241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spc="5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낮은 신뢰도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7900" y="2667000"/>
            <a:ext cx="23241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광고성·오래된 후기가 섞여 있어 진짜 쓸 만한 정보를 가려내기 어렵다.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663700"/>
            <a:ext cx="2679700" cy="2984500"/>
          </a:xfrm>
          <a:prstGeom prst="roundRect">
            <a:avLst>
              <a:gd name="adj" fmla="val 3791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0" y="1841500"/>
            <a:ext cx="23241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0000" y="2171700"/>
            <a:ext cx="2794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0000" y="2298700"/>
            <a:ext cx="23241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spc="5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개인화 부재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0" y="2667000"/>
            <a:ext cx="23241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예산·취향·동행자가 반영되지 않은 일반적 추천만 반복된다.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4300" y="1663700"/>
            <a:ext cx="2679700" cy="2984500"/>
          </a:xfrm>
          <a:prstGeom prst="roundRect">
            <a:avLst>
              <a:gd name="adj" fmla="val 3791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2100" y="1841500"/>
            <a:ext cx="23241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2100" y="2171700"/>
            <a:ext cx="2794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2100" y="2298700"/>
            <a:ext cx="23241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spc="5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실시간성 부족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2100" y="2667000"/>
            <a:ext cx="23241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실제 호텔 요금·혼잡도는 계획과 따로, 매번 별도로 확인해야 한다.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000" y="4826000"/>
            <a:ext cx="11176000" cy="914400"/>
          </a:xfrm>
          <a:prstGeom prst="roundRect">
            <a:avLst>
              <a:gd name="adj" fmla="val 11111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6600" y="4826000"/>
            <a:ext cx="10718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검색 결과는 넘치지만 ‘나에게 맞는 단 하나의 일정표’는 없다.  </a:t>
            </a:r>
            <a:r>
              <a:rPr sz="140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이 간극을 단 몇 번의 선택으로 좁히는 것이 </a:t>
            </a:r>
            <a:r>
              <a:rPr sz="14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‘3초 여행’</a:t>
            </a:r>
            <a:r>
              <a:rPr sz="140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INTRODUCTION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그래서 만든 ‘3초 여행’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도시·날짜·예산·취향만 입력하면 일자별 로드맵을 자동으로 생성한다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E2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04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1663700"/>
            <a:ext cx="3289300" cy="1955800"/>
          </a:xfrm>
          <a:prstGeom prst="roundRect">
            <a:avLst>
              <a:gd name="adj" fmla="val 5194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866899"/>
            <a:ext cx="3048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006600"/>
            <a:ext cx="29337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spc="5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자동 일정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6800"/>
            <a:ext cx="29337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입력 몇 가지만으로 일자별 동선을 자동 구성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49700" y="1663700"/>
            <a:ext cx="3289300" cy="1955800"/>
          </a:xfrm>
          <a:prstGeom prst="roundRect">
            <a:avLst>
              <a:gd name="adj" fmla="val 5194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27500" y="1866899"/>
            <a:ext cx="3048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27500" y="2006600"/>
            <a:ext cx="29337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spc="5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실데이터 기반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27500" y="2336800"/>
            <a:ext cx="29337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실제 Google Places 데이터로 추천 — 가상 장소가 아님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8000" y="3771900"/>
            <a:ext cx="3289300" cy="1955800"/>
          </a:xfrm>
          <a:prstGeom prst="roundRect">
            <a:avLst>
              <a:gd name="adj" fmla="val 5194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3975100"/>
            <a:ext cx="3048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29337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spc="5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지도 기반 편집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445000"/>
            <a:ext cx="29337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동선을 지도에 시각화하고 드래그로 순서 변경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49700" y="3771900"/>
            <a:ext cx="3289300" cy="1955800"/>
          </a:xfrm>
          <a:prstGeom prst="roundRect">
            <a:avLst>
              <a:gd name="adj" fmla="val 5194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27500" y="3975100"/>
            <a:ext cx="3048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27500" y="4114800"/>
            <a:ext cx="29337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spc="5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실시간 비용 반영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27500" y="4445000"/>
            <a:ext cx="29337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호텔·항공 실시간 요금과 총예산을 한 화면에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67599" y="1663700"/>
            <a:ext cx="4216400" cy="4064000"/>
          </a:xfrm>
          <a:prstGeom prst="roundRect">
            <a:avLst>
              <a:gd name="adj" fmla="val 2812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6199" y="1892300"/>
            <a:ext cx="3759199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3초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6199" y="2362200"/>
            <a:ext cx="3759199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spc="30">
                <a:solidFill>
                  <a:srgbClr val="A1A1A6"/>
                </a:solidFill>
                <a:latin typeface="Pretendard"/>
                <a:ea typeface="Pretendard"/>
                <a:cs typeface="Pretendard"/>
              </a:rPr>
              <a:t>일정 자동 생성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6199" y="2705100"/>
            <a:ext cx="3759199" cy="7620"/>
          </a:xfrm>
          <a:prstGeom prst="rect">
            <a:avLst/>
          </a:prstGeom>
          <a:solidFill>
            <a:srgbClr val="3A3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96199" y="3098800"/>
            <a:ext cx="3759199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509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6199" y="3568700"/>
            <a:ext cx="3759199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spc="30">
                <a:solidFill>
                  <a:srgbClr val="A1A1A6"/>
                </a:solidFill>
                <a:latin typeface="Pretendard"/>
                <a:ea typeface="Pretendard"/>
                <a:cs typeface="Pretendard"/>
              </a:rPr>
              <a:t>전 세계 도시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96199" y="3911600"/>
            <a:ext cx="3759199" cy="7620"/>
          </a:xfrm>
          <a:prstGeom prst="rect">
            <a:avLst/>
          </a:prstGeom>
          <a:solidFill>
            <a:srgbClr val="3A3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96199" y="4305300"/>
            <a:ext cx="3759199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실시간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6199" y="4775200"/>
            <a:ext cx="3759199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spc="30">
                <a:solidFill>
                  <a:srgbClr val="A1A1A6"/>
                </a:solidFill>
                <a:latin typeface="Pretendard"/>
                <a:ea typeface="Pretendard"/>
                <a:cs typeface="Pretendard"/>
              </a:rPr>
              <a:t>호텔 · 항공 요금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INTRODUCTION 03 · 차별점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기존 여행앱과 무엇이 다른가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블로그 검색 · 지도 · 예약앱을 오가던 일을, 하나의 자동 일정으로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E2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05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800" y="1663700"/>
            <a:ext cx="14859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항목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33600" y="1663700"/>
            <a:ext cx="3119966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spc="30">
                <a:solidFill>
                  <a:srgbClr val="6E6E73"/>
                </a:solidFill>
                <a:latin typeface="Pretendard SemiBold"/>
                <a:ea typeface="Pretendard SemiBold"/>
                <a:cs typeface="Pretendard SemiBold"/>
              </a:rPr>
              <a:t>블로그 · 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9766" y="1663700"/>
            <a:ext cx="3119966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spc="30">
                <a:solidFill>
                  <a:srgbClr val="6E6E73"/>
                </a:solidFill>
                <a:latin typeface="Pretendard SemiBold"/>
                <a:ea typeface="Pretendard SemiBold"/>
                <a:cs typeface="Pretendard SemiBold"/>
              </a:rPr>
              <a:t>지도 · 예약앱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25933" y="1663700"/>
            <a:ext cx="3119966" cy="355600"/>
          </a:xfrm>
          <a:prstGeom prst="roundRect">
            <a:avLst>
              <a:gd name="adj" fmla="val 21428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25933" y="1663700"/>
            <a:ext cx="3119966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spc="3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3초 여행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000" y="2070100"/>
            <a:ext cx="1587500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300" y="2070100"/>
            <a:ext cx="13970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정보 취합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33600" y="2070100"/>
            <a:ext cx="3119966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09800" y="2070100"/>
            <a:ext cx="2967566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✕  </a:t>
            </a:r>
            <a:r>
              <a:rPr sz="125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블로그 수작업 취합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29766" y="2070100"/>
            <a:ext cx="3119966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5966" y="2070100"/>
            <a:ext cx="2967566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✕  </a:t>
            </a:r>
            <a:r>
              <a:rPr sz="125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앱마다 따로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25933" y="2070100"/>
            <a:ext cx="3119966" cy="533400"/>
          </a:xfrm>
          <a:prstGeom prst="roundRect">
            <a:avLst>
              <a:gd name="adj" fmla="val 14285"/>
            </a:avLst>
          </a:prstGeom>
          <a:solidFill>
            <a:srgbClr val="EAF2FB"/>
          </a:solidFill>
          <a:ln w="1778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02133" y="2070100"/>
            <a:ext cx="2967566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✓  </a:t>
            </a:r>
            <a:r>
              <a:rPr sz="12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한 번에 자동 통합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8000" y="2654300"/>
            <a:ext cx="1587500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2300" y="2654300"/>
            <a:ext cx="13970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개인화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33600" y="2654300"/>
            <a:ext cx="3119966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09800" y="2654300"/>
            <a:ext cx="2967566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✕  </a:t>
            </a:r>
            <a:r>
              <a:rPr sz="125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일반적인 추천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29766" y="2654300"/>
            <a:ext cx="3119966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5966" y="2654300"/>
            <a:ext cx="2967566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✕  </a:t>
            </a:r>
            <a:r>
              <a:rPr sz="125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거의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25933" y="2654300"/>
            <a:ext cx="3119966" cy="533400"/>
          </a:xfrm>
          <a:prstGeom prst="roundRect">
            <a:avLst>
              <a:gd name="adj" fmla="val 14285"/>
            </a:avLst>
          </a:prstGeom>
          <a:solidFill>
            <a:srgbClr val="EAF2FB"/>
          </a:solidFill>
          <a:ln w="1778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02133" y="2654300"/>
            <a:ext cx="2967566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✓  </a:t>
            </a:r>
            <a:r>
              <a:rPr sz="12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예산·취향·동행자 반영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8000" y="3238500"/>
            <a:ext cx="1587500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2300" y="3238500"/>
            <a:ext cx="13970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동선 · 지도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33600" y="3238500"/>
            <a:ext cx="3119966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09800" y="3238500"/>
            <a:ext cx="2967566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✕  </a:t>
            </a:r>
            <a:r>
              <a:rPr sz="125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직접 정리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29766" y="3238500"/>
            <a:ext cx="3119966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5966" y="3238500"/>
            <a:ext cx="2967566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✕  </a:t>
            </a:r>
            <a:r>
              <a:rPr sz="125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지도 표시만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25933" y="3238500"/>
            <a:ext cx="3119966" cy="533400"/>
          </a:xfrm>
          <a:prstGeom prst="roundRect">
            <a:avLst>
              <a:gd name="adj" fmla="val 14285"/>
            </a:avLst>
          </a:prstGeom>
          <a:solidFill>
            <a:srgbClr val="EAF2FB"/>
          </a:solidFill>
          <a:ln w="1778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02133" y="3238500"/>
            <a:ext cx="2967566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✓  </a:t>
            </a:r>
            <a:r>
              <a:rPr sz="12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자동 동선 + 드래그 편집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8000" y="3822700"/>
            <a:ext cx="1587500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2300" y="3822700"/>
            <a:ext cx="13970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실시간 비용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33600" y="3822700"/>
            <a:ext cx="3119966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09800" y="3822700"/>
            <a:ext cx="2967566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✕  </a:t>
            </a:r>
            <a:r>
              <a:rPr sz="125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별도로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29766" y="3822700"/>
            <a:ext cx="3119966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05966" y="3822700"/>
            <a:ext cx="2967566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✕  </a:t>
            </a:r>
            <a:r>
              <a:rPr sz="125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부분적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25933" y="3822700"/>
            <a:ext cx="3119966" cy="533400"/>
          </a:xfrm>
          <a:prstGeom prst="roundRect">
            <a:avLst>
              <a:gd name="adj" fmla="val 14285"/>
            </a:avLst>
          </a:prstGeom>
          <a:solidFill>
            <a:srgbClr val="EAF2FB"/>
          </a:solidFill>
          <a:ln w="1778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02133" y="3822700"/>
            <a:ext cx="2967566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✓  </a:t>
            </a:r>
            <a:r>
              <a:rPr sz="12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호텔·항공 실시간 합산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8000" y="4406900"/>
            <a:ext cx="1587500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2300" y="4406900"/>
            <a:ext cx="13970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결과물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33600" y="4406900"/>
            <a:ext cx="3119966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09800" y="4406900"/>
            <a:ext cx="2967566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✕  </a:t>
            </a:r>
            <a:r>
              <a:rPr sz="125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검색 결과 나열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329766" y="4406900"/>
            <a:ext cx="3119966" cy="5334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05966" y="4406900"/>
            <a:ext cx="2967566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✕  </a:t>
            </a:r>
            <a:r>
              <a:rPr sz="125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예약 단건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525933" y="4406900"/>
            <a:ext cx="3119966" cy="533400"/>
          </a:xfrm>
          <a:prstGeom prst="roundRect">
            <a:avLst>
              <a:gd name="adj" fmla="val 14285"/>
            </a:avLst>
          </a:prstGeom>
          <a:solidFill>
            <a:srgbClr val="EAF2FB"/>
          </a:solidFill>
          <a:ln w="1778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02133" y="4406900"/>
            <a:ext cx="2967566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✓  </a:t>
            </a:r>
            <a:r>
              <a:rPr sz="12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일자별 완성 로드맵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8000" y="5016500"/>
            <a:ext cx="11176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검색·비교·정리에 흩어지던 과정을 </a:t>
            </a:r>
            <a:r>
              <a:rPr sz="13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단일 자동 일정</a:t>
            </a:r>
            <a:r>
              <a:rPr sz="130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으로 압축한다.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INTRODUCTION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4단계, 그리고 3초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도시 → 일정 → 컨셉 → 예산 — 네 단계 입력이면 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E2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06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1803400"/>
            <a:ext cx="2527300" cy="2667000"/>
          </a:xfrm>
          <a:prstGeom prst="roundRect">
            <a:avLst>
              <a:gd name="adj" fmla="val 452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8000" y="2095499"/>
            <a:ext cx="25273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00200" y="245110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000" y="2578100"/>
            <a:ext cx="25273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spc="5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도시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2946400"/>
            <a:ext cx="2222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2000"/>
              </a:lnSpc>
            </a:pP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출발·도착 도시
전 세계 509개 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300" y="1803400"/>
            <a:ext cx="355600" cy="2667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0900" y="1803400"/>
            <a:ext cx="2527300" cy="2667000"/>
          </a:xfrm>
          <a:prstGeom prst="roundRect">
            <a:avLst>
              <a:gd name="adj" fmla="val 452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90900" y="2095499"/>
            <a:ext cx="25273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3100" y="245110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90900" y="2578100"/>
            <a:ext cx="25273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spc="5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일정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3300" y="2946400"/>
            <a:ext cx="2222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2000"/>
              </a:lnSpc>
            </a:pP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여행 날짜와
동행자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8200" y="1803400"/>
            <a:ext cx="355600" cy="2667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73800" y="1803400"/>
            <a:ext cx="2527300" cy="2667000"/>
          </a:xfrm>
          <a:prstGeom prst="roundRect">
            <a:avLst>
              <a:gd name="adj" fmla="val 452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3800" y="2095499"/>
            <a:ext cx="25273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6000" y="245110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3800" y="2578100"/>
            <a:ext cx="25273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spc="5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컨셉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6200" y="2946400"/>
            <a:ext cx="2222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2000"/>
              </a:lnSpc>
            </a:pP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힐링·가성비 등
여행 스타일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1100" y="1803400"/>
            <a:ext cx="355600" cy="2667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56700" y="1803400"/>
            <a:ext cx="2527300" cy="2667000"/>
          </a:xfrm>
          <a:prstGeom prst="roundRect">
            <a:avLst>
              <a:gd name="adj" fmla="val 452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6700" y="2095499"/>
            <a:ext cx="25273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8900" y="2451100"/>
            <a:ext cx="3429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56700" y="2578100"/>
            <a:ext cx="25273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spc="5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예산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09100" y="2946400"/>
            <a:ext cx="2222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2000"/>
              </a:lnSpc>
            </a:pP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예산·항공·
숙소 취향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8000" y="4686300"/>
            <a:ext cx="11176000" cy="952500"/>
          </a:xfrm>
          <a:prstGeom prst="roundRect">
            <a:avLst>
              <a:gd name="adj" fmla="val 10666"/>
            </a:avLst>
          </a:prstGeom>
          <a:solidFill>
            <a:srgbClr val="F5F5F7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6600" y="4686300"/>
            <a:ext cx="10718800" cy="952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‘일정 생성’  →  도시 좌표 해석  →  시간대(5)별 장소 검색  →  동선·타임라인·예산 자동 구성
</a:t>
            </a:r>
            <a:r>
              <a:rPr sz="130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결과 · 지도 동선 + 일자별 타임라인 + 예산 집계 + 예약 연결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BY THE NUMBERS · 숫자로 보는 3초 여행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숫자로 보는 3초 여행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데모 한 번에 담긴 규모와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E2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07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1663700"/>
            <a:ext cx="2679700" cy="1308100"/>
          </a:xfrm>
          <a:prstGeom prst="roundRect">
            <a:avLst>
              <a:gd name="adj" fmla="val 77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17700"/>
            <a:ext cx="2324100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 spc="-3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509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463800"/>
            <a:ext cx="2794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90800"/>
            <a:ext cx="23241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전 세계 도시 데이터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0100" y="1663700"/>
            <a:ext cx="2679700" cy="1308100"/>
          </a:xfrm>
          <a:prstGeom prst="roundRect">
            <a:avLst>
              <a:gd name="adj" fmla="val 77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7900" y="1917700"/>
            <a:ext cx="2324100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 spc="-3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3초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17900" y="2463800"/>
            <a:ext cx="2794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7900" y="2590800"/>
            <a:ext cx="23241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일정 자동 생성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63700"/>
            <a:ext cx="2679700" cy="1308100"/>
          </a:xfrm>
          <a:prstGeom prst="roundRect">
            <a:avLst>
              <a:gd name="adj" fmla="val 77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0000" y="1917700"/>
            <a:ext cx="2324100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 spc="-3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17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0000" y="2463800"/>
            <a:ext cx="2794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0" y="2590800"/>
            <a:ext cx="23241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백엔드 라우터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4300" y="1663700"/>
            <a:ext cx="2679700" cy="1308100"/>
          </a:xfrm>
          <a:prstGeom prst="roundRect">
            <a:avLst>
              <a:gd name="adj" fmla="val 77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2100" y="1917700"/>
            <a:ext cx="2324100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 spc="-3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84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2100" y="2463800"/>
            <a:ext cx="2794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2100" y="2590800"/>
            <a:ext cx="23241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API 엔드포인트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000" y="3124200"/>
            <a:ext cx="2679700" cy="1308100"/>
          </a:xfrm>
          <a:prstGeom prst="roundRect">
            <a:avLst>
              <a:gd name="adj" fmla="val 77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378200"/>
            <a:ext cx="2324100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 spc="-3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11,000+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3924300"/>
            <a:ext cx="2794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051300"/>
            <a:ext cx="23241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코드 라인 (FE + BE)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40100" y="3124200"/>
            <a:ext cx="2679700" cy="1308100"/>
          </a:xfrm>
          <a:prstGeom prst="roundRect">
            <a:avLst>
              <a:gd name="adj" fmla="val 77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7900" y="3378200"/>
            <a:ext cx="2324100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 spc="-3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15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17900" y="3924300"/>
            <a:ext cx="2794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17900" y="4051300"/>
            <a:ext cx="23241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앱 화면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124200"/>
            <a:ext cx="2679700" cy="1308100"/>
          </a:xfrm>
          <a:prstGeom prst="roundRect">
            <a:avLst>
              <a:gd name="adj" fmla="val 77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0000" y="3378200"/>
            <a:ext cx="2324100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 spc="-3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0000" y="3924300"/>
            <a:ext cx="2794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0000" y="4051300"/>
            <a:ext cx="23241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소셜 로그인 (Google·Kakao·Naver·Apple)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04300" y="3124200"/>
            <a:ext cx="2679700" cy="1308100"/>
          </a:xfrm>
          <a:prstGeom prst="roundRect">
            <a:avLst>
              <a:gd name="adj" fmla="val 776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82100" y="3378200"/>
            <a:ext cx="2324100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 spc="-3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82100" y="3924300"/>
            <a:ext cx="279400" cy="381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82100" y="4051300"/>
            <a:ext cx="2324100" cy="31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독립 단위 (FE·BE·admin)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8000" y="4546600"/>
            <a:ext cx="11176000" cy="609600"/>
          </a:xfrm>
          <a:prstGeom prst="roundRect">
            <a:avLst>
              <a:gd name="adj" fmla="val 16666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6600" y="4546600"/>
            <a:ext cx="10718800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예시 · 오사카 3일  </a:t>
            </a:r>
            <a:r>
              <a:rPr sz="1400" b="0">
                <a:solidFill>
                  <a:srgbClr val="F5F5F7"/>
                </a:solidFill>
                <a:latin typeface="Pretendard"/>
                <a:ea typeface="Pretendard"/>
                <a:cs typeface="Pretendard"/>
              </a:rPr>
              <a:t>9곳 · 39.7km · 1시간 47분   ·   예산 ₩1,200,000 → 실집계 </a:t>
            </a:r>
            <a:r>
              <a:rPr sz="1500" b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₩1,166,496</a:t>
            </a:r>
            <a:r>
              <a:rPr sz="1300" b="0">
                <a:solidFill>
                  <a:srgbClr val="A1A1A6"/>
                </a:solidFill>
                <a:latin typeface="Pretendard"/>
                <a:ea typeface="Pretendard"/>
                <a:cs typeface="Pretendard"/>
              </a:rPr>
              <a:t>  (왕복항공 45.8만 + 숙소 14.3만×2박 + 활동 42.3만)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SYSTEM / 시스템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프로그램은 세 부분으로 나뉘어요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화면(FE) · 서버(BE) · 관리자(admin) — 셋이 인터넷으로 서로 주고받아요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E2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08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1689100"/>
            <a:ext cx="11176000" cy="292100"/>
          </a:xfrm>
          <a:prstGeom prst="roundRect">
            <a:avLst>
              <a:gd name="adj" fmla="val 17391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400" y="1689100"/>
            <a:ext cx="1689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6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부분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5400" y="1689100"/>
            <a:ext cx="7785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6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하는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6400" y="1689100"/>
            <a:ext cx="1054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6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주소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000" y="2057400"/>
            <a:ext cx="11176000" cy="74930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" y="2057400"/>
            <a:ext cx="1689100" cy="749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spc="2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화면 (FE)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5400" y="2057400"/>
            <a:ext cx="7785100" cy="749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사용자가 보고 누르는 웹 화면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6400" y="2057400"/>
            <a:ext cx="1054100" cy="749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:8080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8000" y="2882900"/>
            <a:ext cx="11176000" cy="74930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400" y="2882900"/>
            <a:ext cx="1689100" cy="749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spc="2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서버 (BE)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5400" y="2882900"/>
            <a:ext cx="7785100" cy="749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요청 처리 · 데이터 저장 · 외부 정보 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6400" y="2882900"/>
            <a:ext cx="1054100" cy="749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:8000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8000" y="3708400"/>
            <a:ext cx="11176000" cy="74930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400" y="3708400"/>
            <a:ext cx="1689100" cy="749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spc="2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관리자 (admin)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5400" y="3708400"/>
            <a:ext cx="7785100" cy="749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운영자가 회원 · 데이터를 관리하는 도구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66400" y="3708400"/>
            <a:ext cx="1054100" cy="749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:8090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000" y="4584700"/>
            <a:ext cx="3623733" cy="584200"/>
          </a:xfrm>
          <a:prstGeom prst="roundRect">
            <a:avLst>
              <a:gd name="adj" fmla="val 1521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84700"/>
            <a:ext cx="3268133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비밀 키  </a:t>
            </a:r>
            <a:r>
              <a:rPr sz="135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전부 서버에만 보관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84133" y="4584700"/>
            <a:ext cx="3623733" cy="584200"/>
          </a:xfrm>
          <a:prstGeom prst="roundRect">
            <a:avLst>
              <a:gd name="adj" fmla="val 1521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61933" y="4584700"/>
            <a:ext cx="3268133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데이터  </a:t>
            </a:r>
            <a:r>
              <a:rPr sz="135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서버가 DB에 저장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0266" y="4584700"/>
            <a:ext cx="3623733" cy="584200"/>
          </a:xfrm>
          <a:prstGeom prst="roundRect">
            <a:avLst>
              <a:gd name="adj" fmla="val 1521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8066" y="4584700"/>
            <a:ext cx="3268133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외부 정보  </a:t>
            </a:r>
            <a:r>
              <a:rPr sz="135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서버가 대신 가져옴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DATA / 저장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사용자 정보·데이터는 어디에 저장되나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대부분은 SQL 데이터베이스에, 사진은 파일로 — 민감 정보는 암호화해서 보관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E2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09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1689100"/>
            <a:ext cx="11176000" cy="292100"/>
          </a:xfrm>
          <a:prstGeom prst="roundRect">
            <a:avLst>
              <a:gd name="adj" fmla="val 17391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400" y="1689100"/>
            <a:ext cx="3340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6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16400" y="1689100"/>
            <a:ext cx="2451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6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어디에 저장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3400" y="1689100"/>
            <a:ext cx="4737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6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메모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000" y="2057400"/>
            <a:ext cx="11176000" cy="8382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" y="2057400"/>
            <a:ext cx="3340100" cy="83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spc="2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회원 정보 (이름·이메일·전화)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6400" y="2057400"/>
            <a:ext cx="2451100" cy="83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spc="2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SQL 데이터베이스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3400" y="2057400"/>
            <a:ext cx="4737100" cy="83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이름·전화는 암호화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8000" y="2971800"/>
            <a:ext cx="11176000" cy="8382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400" y="2971800"/>
            <a:ext cx="3340100" cy="83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spc="2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여행 일정·로드맵·후기·블로그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6400" y="2971800"/>
            <a:ext cx="2451100" cy="83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spc="2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SQL 데이터베이스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71800"/>
            <a:ext cx="4737100" cy="83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글·좋아요·평점 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8000" y="3886200"/>
            <a:ext cx="11176000" cy="8382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400" y="3886200"/>
            <a:ext cx="3340100" cy="83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spc="2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장소 대표 사진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400" y="3886200"/>
            <a:ext cx="2451100" cy="83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spc="2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이미지 파일 (서버)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83400" y="3886200"/>
            <a:ext cx="4737100" cy="83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AI가 1회 생성 후 재사용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000" y="4800600"/>
            <a:ext cx="11176000" cy="8382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400" y="4800600"/>
            <a:ext cx="3340100" cy="83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spc="2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로그인 상태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6400" y="4800600"/>
            <a:ext cx="2451100" cy="83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spc="2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내 브라우저 (토큰)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83400" y="4800600"/>
            <a:ext cx="4737100" cy="83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비밀번호 원문은 저장 안 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DATA / 출처(API)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장소·가격·AI는 어디서 가져오나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필요한 정보는 외부 서비스(API)에서 — 모두 서버가 대신 호출해요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E2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10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1689100"/>
            <a:ext cx="11176000" cy="292100"/>
          </a:xfrm>
          <a:prstGeom prst="roundRect">
            <a:avLst>
              <a:gd name="adj" fmla="val 17391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400" y="1689100"/>
            <a:ext cx="4610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6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689100"/>
            <a:ext cx="6134100" cy="292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6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어디서 가져오나 (API)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000" y="2057400"/>
            <a:ext cx="11176000" cy="5842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2057400"/>
            <a:ext cx="46101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spc="2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장소 · 맛집 · 명소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057400"/>
            <a:ext cx="61341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spc="2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Google Places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000" y="2717800"/>
            <a:ext cx="11176000" cy="5842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400" y="2717800"/>
            <a:ext cx="46101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spc="2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길찾기 · 이동 동선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717800"/>
            <a:ext cx="61341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spc="2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Google Routes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000" y="3378200"/>
            <a:ext cx="11176000" cy="5842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400" y="3378200"/>
            <a:ext cx="46101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spc="2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호텔 · 항공 실시간 가격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3378200"/>
            <a:ext cx="61341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spc="2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SerpApi  (구글 호텔·항공)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8000" y="4038600"/>
            <a:ext cx="11176000" cy="5842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400" y="4038600"/>
            <a:ext cx="46101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spc="2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AI 코스 요약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038600"/>
            <a:ext cx="61341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spc="2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OpenAI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000" y="4699000"/>
            <a:ext cx="11176000" cy="5842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2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400" y="4699000"/>
            <a:ext cx="46101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spc="2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간편 로그인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699000"/>
            <a:ext cx="61341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spc="2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구글 · 카카오 · 네이버 · 애플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8000" y="5397500"/>
            <a:ext cx="11176000" cy="584200"/>
          </a:xfrm>
          <a:prstGeom prst="roundRect">
            <a:avLst>
              <a:gd name="adj" fmla="val 17391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600" y="5397500"/>
            <a:ext cx="107188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API 키(비밀번호 같은 것)는 사용자에게 절대 노출되지 않게, </a:t>
            </a:r>
            <a:r>
              <a:rPr sz="135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서버가 대신 불러옵니다.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A8A8E"/>
                </a:solidFill>
                <a:latin typeface="Pretendard SemiBold"/>
                <a:ea typeface="Pretendard SemiBold"/>
                <a:cs typeface="Pretendard SemiBold"/>
              </a:rPr>
              <a:t>TECH / 사용 기술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만드는 데 쓴 기술 (쉽게)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A1A1A6"/>
                </a:solidFill>
                <a:latin typeface="Pretendard"/>
                <a:ea typeface="Pretendard"/>
                <a:cs typeface="Pretendard"/>
              </a:rPr>
              <a:t>복잡한 도구 없이, 검증된 표준 기술로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3A3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_r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Pretendard"/>
                <a:ea typeface="Pretendard"/>
                <a:cs typeface="Pretendard"/>
              </a:rPr>
              <a:t>11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1676400"/>
            <a:ext cx="2679700" cy="3556000"/>
          </a:xfrm>
          <a:prstGeom prst="roundRect">
            <a:avLst>
              <a:gd name="adj" fmla="val 4265"/>
            </a:avLst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05000"/>
            <a:ext cx="23241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100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146300"/>
            <a:ext cx="23241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spc="2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순수 자바스크립트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55900"/>
            <a:ext cx="330200" cy="38100"/>
          </a:xfrm>
          <a:prstGeom prst="roundRect">
            <a:avLst>
              <a:gd name="adj" fmla="val 50000"/>
            </a:avLst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921000"/>
            <a:ext cx="2324100" cy="215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spc="20">
                <a:solidFill>
                  <a:srgbClr val="F5F5F7"/>
                </a:solidFill>
                <a:latin typeface="Pretendard"/>
                <a:ea typeface="Pretendard"/>
                <a:cs typeface="Pretendard"/>
              </a:rPr>
              <a:t>설치·빌드 없이
브라우저가 바로 실행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0100" y="1676400"/>
            <a:ext cx="2679700" cy="3556000"/>
          </a:xfrm>
          <a:prstGeom prst="roundRect">
            <a:avLst>
              <a:gd name="adj" fmla="val 4265"/>
            </a:avLst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7900" y="1905000"/>
            <a:ext cx="23241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100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서버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7900" y="2146300"/>
            <a:ext cx="23241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spc="2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파이썬 (FastAPI)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17900" y="2755900"/>
            <a:ext cx="330200" cy="38100"/>
          </a:xfrm>
          <a:prstGeom prst="roundRect">
            <a:avLst>
              <a:gd name="adj" fmla="val 50000"/>
            </a:avLst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7900" y="2921000"/>
            <a:ext cx="2324100" cy="215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spc="20">
                <a:solidFill>
                  <a:srgbClr val="F5F5F7"/>
                </a:solidFill>
                <a:latin typeface="Pretendard"/>
                <a:ea typeface="Pretendard"/>
                <a:cs typeface="Pretendard"/>
              </a:rPr>
              <a:t>요청을 처리하고
외부 API를 호출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676400"/>
            <a:ext cx="2679700" cy="3556000"/>
          </a:xfrm>
          <a:prstGeom prst="roundRect">
            <a:avLst>
              <a:gd name="adj" fmla="val 4265"/>
            </a:avLst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0" y="1905000"/>
            <a:ext cx="23241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100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저장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0" y="2146300"/>
            <a:ext cx="23241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spc="2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SQL 데이터베이스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0000" y="2755900"/>
            <a:ext cx="330200" cy="38100"/>
          </a:xfrm>
          <a:prstGeom prst="roundRect">
            <a:avLst>
              <a:gd name="adj" fmla="val 50000"/>
            </a:avLst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0000" y="2921000"/>
            <a:ext cx="2324100" cy="215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spc="20">
                <a:solidFill>
                  <a:srgbClr val="F5F5F7"/>
                </a:solidFill>
                <a:latin typeface="Pretendard"/>
                <a:ea typeface="Pretendard"/>
                <a:cs typeface="Pretendard"/>
              </a:rPr>
              <a:t>개발은 SQLite
운영은 PostgreSQL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4300" y="1676400"/>
            <a:ext cx="2679700" cy="3556000"/>
          </a:xfrm>
          <a:prstGeom prst="roundRect">
            <a:avLst>
              <a:gd name="adj" fmla="val 4265"/>
            </a:avLst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2100" y="1905000"/>
            <a:ext cx="23241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100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외부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2100" y="2146300"/>
            <a:ext cx="23241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spc="2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구글 지도 · OpenAI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82100" y="2755900"/>
            <a:ext cx="330200" cy="38100"/>
          </a:xfrm>
          <a:prstGeom prst="roundRect">
            <a:avLst>
              <a:gd name="adj" fmla="val 50000"/>
            </a:avLst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2100" y="2921000"/>
            <a:ext cx="2324100" cy="215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spc="20">
                <a:solidFill>
                  <a:srgbClr val="F5F5F7"/>
                </a:solidFill>
                <a:latin typeface="Pretendard"/>
                <a:ea typeface="Pretendard"/>
                <a:cs typeface="Pretendard"/>
              </a:rPr>
              <a:t>SerpApi(가격)
소셜 로그인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000" y="5422900"/>
            <a:ext cx="11176000" cy="609600"/>
          </a:xfrm>
          <a:prstGeom prst="roundRect">
            <a:avLst>
              <a:gd name="adj" fmla="val 16666"/>
            </a:avLst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000" y="5422900"/>
            <a:ext cx="11176000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spc="5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검색에 쓰던 몇 시간을, 3초로.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SCREEN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홈 — 추천·인기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도착 도시와 분위기를 고르며 시작하는 첫 화면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E2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12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10800" y="952500"/>
            <a:ext cx="147320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10800" y="952500"/>
            <a:ext cx="14732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  <a:hlinkClick r:id="rId3"/>
              </a:rPr>
              <a:t>▶  라이브 데모 열기</a:t>
            </a:r>
          </a:p>
        </p:txBody>
      </p:sp>
      <p:pic>
        <p:nvPicPr>
          <p:cNvPr id="12" name="Picture 11" descr="s11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5012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3" name="TextBox 12"/>
          <p:cNvSpPr txBox="1"/>
          <p:nvPr/>
        </p:nvSpPr>
        <p:spPr>
          <a:xfrm>
            <a:off x="508000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01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검색 + 컨셉 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도착 도시 검색과 분위기 칩으로 시작</a:t>
            </a:r>
          </a:p>
        </p:txBody>
      </p:sp>
      <p:pic>
        <p:nvPicPr>
          <p:cNvPr id="15" name="Picture 14" descr="s11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7345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4360333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02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인기·추천 로드맵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2733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좋아요 수와 함께 카드로 큐레이션</a:t>
            </a:r>
          </a:p>
        </p:txBody>
      </p:sp>
      <p:pic>
        <p:nvPicPr>
          <p:cNvPr id="18" name="Picture 17" descr="s11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9678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9" name="TextBox 18"/>
          <p:cNvSpPr txBox="1"/>
          <p:nvPr/>
        </p:nvSpPr>
        <p:spPr>
          <a:xfrm>
            <a:off x="8212666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03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여행자 후기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5066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실제 후기로 신뢰도 제공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SCREEN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새 여행 만들기 — 4단계 위저드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도시 → 일정 → 컨셉 → 예산 순서로 입력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E2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13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10800" y="952500"/>
            <a:ext cx="147320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10800" y="952500"/>
            <a:ext cx="14732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  <a:hlinkClick r:id="rId3"/>
              </a:rPr>
              <a:t>▶  라이브 데모 열기</a:t>
            </a:r>
          </a:p>
        </p:txBody>
      </p:sp>
      <p:pic>
        <p:nvPicPr>
          <p:cNvPr id="12" name="Picture 11" descr="s1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5012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3" name="TextBox 12"/>
          <p:cNvSpPr txBox="1"/>
          <p:nvPr/>
        </p:nvSpPr>
        <p:spPr>
          <a:xfrm>
            <a:off x="508000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01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4단계 + 도시 입력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단계 표시와 출발·도착 도시 입력</a:t>
            </a:r>
          </a:p>
        </p:txBody>
      </p:sp>
      <p:pic>
        <p:nvPicPr>
          <p:cNvPr id="15" name="Picture 14" descr="s12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7345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4360333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02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도시 자동완성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2733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입력 시 도시·국가를 즉시 검색</a:t>
            </a:r>
          </a:p>
        </p:txBody>
      </p:sp>
      <p:pic>
        <p:nvPicPr>
          <p:cNvPr id="18" name="Picture 17" descr="s12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9678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9" name="TextBox 18"/>
          <p:cNvSpPr txBox="1"/>
          <p:nvPr/>
        </p:nvSpPr>
        <p:spPr>
          <a:xfrm>
            <a:off x="8212666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03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인기 도시 바로가기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5066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자주 찾는 도시는 원클릭 선택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SCREEN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만든 일정 — 지도로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하루 동선을 지도 위에 시각화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E2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14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10800" y="952500"/>
            <a:ext cx="147320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10800" y="952500"/>
            <a:ext cx="14732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  <a:hlinkClick r:id="rId3"/>
              </a:rPr>
              <a:t>▶  라이브 데모 열기</a:t>
            </a:r>
          </a:p>
        </p:txBody>
      </p:sp>
      <p:pic>
        <p:nvPicPr>
          <p:cNvPr id="12" name="Picture 11" descr="s13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5012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3" name="TextBox 12"/>
          <p:cNvSpPr txBox="1"/>
          <p:nvPr/>
        </p:nvSpPr>
        <p:spPr>
          <a:xfrm>
            <a:off x="508000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01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Day 탭 · 동선 지도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방문지를 번호·경로로 지도에 표시</a:t>
            </a:r>
          </a:p>
        </p:txBody>
      </p:sp>
      <p:pic>
        <p:nvPicPr>
          <p:cNvPr id="15" name="Picture 14" descr="s13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7345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4360333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02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이동수단 · 경로 요약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2733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거리·시간·정거장을 한눈에</a:t>
            </a:r>
          </a:p>
        </p:txBody>
      </p:sp>
      <p:pic>
        <p:nvPicPr>
          <p:cNvPr id="18" name="Picture 17" descr="s13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9678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9" name="TextBox 18"/>
          <p:cNvSpPr txBox="1"/>
          <p:nvPr/>
        </p:nvSpPr>
        <p:spPr>
          <a:xfrm>
            <a:off x="8212666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03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전체 예산 합계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5066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항공·숙소·활동 비용을 집계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SCREEN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만든 일정 — 시간표로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시간대별 일정과 실제 비용을 함께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E2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15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10800" y="952500"/>
            <a:ext cx="147320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10800" y="952500"/>
            <a:ext cx="14732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  <a:hlinkClick r:id="rId3"/>
              </a:rPr>
              <a:t>▶  라이브 데모 열기</a:t>
            </a:r>
          </a:p>
        </p:txBody>
      </p:sp>
      <p:pic>
        <p:nvPicPr>
          <p:cNvPr id="12" name="Picture 11" descr="s1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5012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3" name="TextBox 12"/>
          <p:cNvSpPr txBox="1"/>
          <p:nvPr/>
        </p:nvSpPr>
        <p:spPr>
          <a:xfrm>
            <a:off x="508000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01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시간대별 일정 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시간·카테고리·예상비용을 카드로</a:t>
            </a:r>
          </a:p>
        </p:txBody>
      </p:sp>
      <p:pic>
        <p:nvPicPr>
          <p:cNvPr id="15" name="Picture 14" descr="s1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7345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4360333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02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실시간 호텔 요금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2733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SerpApi로 실제 1박가를 반영</a:t>
            </a:r>
          </a:p>
        </p:txBody>
      </p:sp>
      <p:pic>
        <p:nvPicPr>
          <p:cNvPr id="18" name="Picture 17" descr="s14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9678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9" name="TextBox 18"/>
          <p:cNvSpPr txBox="1"/>
          <p:nvPr/>
        </p:nvSpPr>
        <p:spPr>
          <a:xfrm>
            <a:off x="8212666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03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혼잡도·현지인 비율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5066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장소별 추정 지표를 함께 제공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SCREEN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탐색 — 로드맵 둘러보기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도시별 추천 일정을 탐색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E2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16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10800" y="952500"/>
            <a:ext cx="147320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10800" y="952500"/>
            <a:ext cx="14732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  <a:hlinkClick r:id="rId3"/>
              </a:rPr>
              <a:t>▶  라이브 데모 열기</a:t>
            </a:r>
          </a:p>
        </p:txBody>
      </p:sp>
      <p:pic>
        <p:nvPicPr>
          <p:cNvPr id="12" name="Picture 11" descr="s15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5012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3" name="TextBox 12"/>
          <p:cNvSpPr txBox="1"/>
          <p:nvPr/>
        </p:nvSpPr>
        <p:spPr>
          <a:xfrm>
            <a:off x="508000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01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검색·정렬·필터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인기·최신·좋아요 + 컨셉 태그</a:t>
            </a:r>
          </a:p>
        </p:txBody>
      </p:sp>
      <p:pic>
        <p:nvPicPr>
          <p:cNvPr id="15" name="Picture 14" descr="s15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7345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4360333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02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로드맵 카드 갤러리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2733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도시별 추천 일정을 이미지 카드로</a:t>
            </a:r>
          </a:p>
        </p:txBody>
      </p:sp>
      <p:pic>
        <p:nvPicPr>
          <p:cNvPr id="18" name="Picture 17" descr="s15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9678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9" name="TextBox 18"/>
          <p:cNvSpPr txBox="1"/>
          <p:nvPr/>
        </p:nvSpPr>
        <p:spPr>
          <a:xfrm>
            <a:off x="8212666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03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더 많은 로드맵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5066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전 세계 추천 일정 둘러보기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SCREEN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마이 — 내 여행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저장한 일정과 내 활동을 관리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E2E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Pretendard"/>
                <a:ea typeface="Pretendard"/>
                <a:cs typeface="Pretendard"/>
              </a:rPr>
              <a:t>17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10800" y="952500"/>
            <a:ext cx="147320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778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10800" y="952500"/>
            <a:ext cx="1473200" cy="27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  <a:hlinkClick r:id="rId3"/>
              </a:rPr>
              <a:t>▶  라이브 데모 열기</a:t>
            </a:r>
          </a:p>
        </p:txBody>
      </p:sp>
      <p:pic>
        <p:nvPicPr>
          <p:cNvPr id="12" name="Picture 11" descr="s16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5012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3" name="TextBox 12"/>
          <p:cNvSpPr txBox="1"/>
          <p:nvPr/>
        </p:nvSpPr>
        <p:spPr>
          <a:xfrm>
            <a:off x="508000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01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계정 · 활동 메뉴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저장 일정·로드맵·후기·취향</a:t>
            </a:r>
          </a:p>
        </p:txBody>
      </p:sp>
      <p:pic>
        <p:nvPicPr>
          <p:cNvPr id="15" name="Picture 14" descr="s16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7345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4360333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02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취향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2733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설문으로 맞춤 추천을 강화</a:t>
            </a:r>
          </a:p>
        </p:txBody>
      </p:sp>
      <p:pic>
        <p:nvPicPr>
          <p:cNvPr id="18" name="Picture 17" descr="s16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9678" y="1739900"/>
            <a:ext cx="1637308" cy="3543300"/>
          </a:xfrm>
          <a:prstGeom prst="rect">
            <a:avLst/>
          </a:prstGeom>
          <a:effectLst>
            <a:outerShdw blurRad="323850" dist="114300" dir="5400000" rotWithShape="0">
              <a:srgbClr val="000000">
                <a:alpha val="22000"/>
              </a:srgbClr>
            </a:outerShdw>
          </a:effectLst>
        </p:spPr>
      </p:pic>
      <p:sp>
        <p:nvSpPr>
          <p:cNvPr id="19" name="TextBox 18"/>
          <p:cNvSpPr txBox="1"/>
          <p:nvPr/>
        </p:nvSpPr>
        <p:spPr>
          <a:xfrm>
            <a:off x="8212666" y="5461000"/>
            <a:ext cx="3471333" cy="215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0066CC"/>
                </a:solidFill>
                <a:latin typeface="Pretendard SemiBold"/>
                <a:ea typeface="Pretendard SemiBold"/>
                <a:cs typeface="Pretendard SemiBold"/>
              </a:rPr>
              <a:t>03   </a:t>
            </a:r>
            <a:r>
              <a:rPr sz="1500" b="0" spc="30">
                <a:solidFill>
                  <a:srgbClr val="1D1D1F"/>
                </a:solidFill>
                <a:latin typeface="Pretendard SemiBold"/>
                <a:ea typeface="Pretendard SemiBold"/>
                <a:cs typeface="Pretendard SemiBold"/>
              </a:rPr>
              <a:t>환경 설정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5066" y="5702300"/>
            <a:ext cx="31665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 spc="20">
                <a:solidFill>
                  <a:srgbClr val="6E6E73"/>
                </a:solidFill>
                <a:latin typeface="Pretendard"/>
                <a:ea typeface="Pretendard"/>
                <a:cs typeface="Pretendard"/>
              </a:rPr>
              <a:t>언어·다크모드·알림·데이터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355600"/>
            <a:ext cx="1117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spc="280">
                <a:solidFill>
                  <a:srgbClr val="8A8A8E"/>
                </a:solidFill>
                <a:latin typeface="Pretendard SemiBold"/>
                <a:ea typeface="Pretendard SemiBold"/>
                <a:cs typeface="Pretendard SemiBold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558800"/>
            <a:ext cx="11176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0" spc="10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지금은 MVP, 다음은 제품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028700"/>
            <a:ext cx="1117600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60">
                <a:solidFill>
                  <a:srgbClr val="A1A1A6"/>
                </a:solidFill>
                <a:latin typeface="Pretendard"/>
                <a:ea typeface="Pretendard"/>
                <a:cs typeface="Pretendard"/>
              </a:rPr>
              <a:t>핵심 기능부터 실제 제품으로 — 데모를 넘어서기 위한 다음 단계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371600"/>
            <a:ext cx="11176000" cy="8890"/>
          </a:xfrm>
          <a:prstGeom prst="rect">
            <a:avLst/>
          </a:prstGeom>
          <a:solidFill>
            <a:srgbClr val="3A3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symbol_r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553200"/>
            <a:ext cx="174662" cy="133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62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Pretendard SemiBold"/>
                <a:ea typeface="Pretendard SemiBold"/>
                <a:cs typeface="Pretendard SemiBold"/>
              </a:rPr>
              <a:t>3SecondTrip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0" y="6553200"/>
            <a:ext cx="317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A8A8E"/>
                </a:solidFill>
                <a:latin typeface="Pretendard"/>
                <a:ea typeface="Pretendard"/>
                <a:cs typeface="Pretendard"/>
              </a:rPr>
              <a:t>18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1676400"/>
            <a:ext cx="3623733" cy="825500"/>
          </a:xfrm>
          <a:prstGeom prst="roundRect">
            <a:avLst>
              <a:gd name="adj" fmla="val 12307"/>
            </a:avLst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500" y="1765300"/>
            <a:ext cx="32427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3개 단위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8500" y="2171700"/>
            <a:ext cx="3242733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spc="30">
                <a:solidFill>
                  <a:srgbClr val="A1A1A6"/>
                </a:solidFill>
                <a:latin typeface="Pretendard"/>
                <a:ea typeface="Pretendard"/>
                <a:cs typeface="Pretendard"/>
              </a:rPr>
              <a:t>FE · BE · admin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4133" y="1676400"/>
            <a:ext cx="3623733" cy="825500"/>
          </a:xfrm>
          <a:prstGeom prst="roundRect">
            <a:avLst>
              <a:gd name="adj" fmla="val 12307"/>
            </a:avLst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633" y="1765300"/>
            <a:ext cx="32427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17개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633" y="2171700"/>
            <a:ext cx="3242733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spc="30">
                <a:solidFill>
                  <a:srgbClr val="A1A1A6"/>
                </a:solidFill>
                <a:latin typeface="Pretendard"/>
                <a:ea typeface="Pretendard"/>
                <a:cs typeface="Pretendard"/>
              </a:rPr>
              <a:t>도메인 라우터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266" y="1676400"/>
            <a:ext cx="3623733" cy="825500"/>
          </a:xfrm>
          <a:prstGeom prst="roundRect">
            <a:avLst>
              <a:gd name="adj" fmla="val 12307"/>
            </a:avLst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0766" y="1765300"/>
            <a:ext cx="3242733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실시간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0766" y="2171700"/>
            <a:ext cx="3242733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spc="30">
                <a:solidFill>
                  <a:srgbClr val="A1A1A6"/>
                </a:solidFill>
                <a:latin typeface="Pretendard"/>
                <a:ea typeface="Pretendard"/>
                <a:cs typeface="Pretendard"/>
              </a:rPr>
              <a:t>호텔 · 항공 요금 연동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000" y="2730500"/>
            <a:ext cx="5511800" cy="609600"/>
          </a:xfrm>
          <a:prstGeom prst="roundRect">
            <a:avLst>
              <a:gd name="adj" fmla="val 14583"/>
            </a:avLst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000" y="2730500"/>
            <a:ext cx="50800" cy="6096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8500" y="2730500"/>
            <a:ext cx="5130800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  <a:r>
              <a:rPr sz="1500" b="0" spc="3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   영속 DB 전환 (SQLite → PostgreSQL)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730500"/>
            <a:ext cx="5511800" cy="609600"/>
          </a:xfrm>
          <a:prstGeom prst="roundRect">
            <a:avLst>
              <a:gd name="adj" fmla="val 14583"/>
            </a:avLst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2730500"/>
            <a:ext cx="50800" cy="6096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2700" y="2730500"/>
            <a:ext cx="5130800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  <a:r>
              <a:rPr sz="1500" b="0" spc="3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   추천 품질 고도화 (취향·혼잡도 반영)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000" y="3492500"/>
            <a:ext cx="5511800" cy="609600"/>
          </a:xfrm>
          <a:prstGeom prst="roundRect">
            <a:avLst>
              <a:gd name="adj" fmla="val 14583"/>
            </a:avLst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8000" y="3492500"/>
            <a:ext cx="50800" cy="6096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8500" y="3492500"/>
            <a:ext cx="5130800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  <a:r>
              <a:rPr sz="1500" b="0" spc="3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   예약·결제 연결 확장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492500"/>
            <a:ext cx="5511800" cy="609600"/>
          </a:xfrm>
          <a:prstGeom prst="roundRect">
            <a:avLst>
              <a:gd name="adj" fmla="val 14583"/>
            </a:avLst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492500"/>
            <a:ext cx="50800" cy="6096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2700" y="3492500"/>
            <a:ext cx="5130800" cy="609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997FF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  <a:r>
              <a:rPr sz="1500" b="0" spc="3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   공개 배포 · 성능/보안 하드닝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0" y="4279900"/>
            <a:ext cx="12192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spc="5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검색에 쓰던 몇 시간을, 3초로.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