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30"/>
  </p:normalViewPr>
  <p:slideViewPr>
    <p:cSldViewPr snapToGrid="0" snapToObjects="1">
      <p:cViewPr varScale="1">
        <p:scale>
          <a:sx n="118" d="100"/>
          <a:sy n="118" d="100"/>
        </p:scale>
        <p:origin x="552" y="19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6/10/26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127.0.0.1:8080/index-redesign.html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32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AI TRAVEL ROADMAP PLANNER</a:t>
            </a:r>
          </a:p>
        </p:txBody>
      </p:sp>
      <p:pic>
        <p:nvPicPr>
          <p:cNvPr id="4" name="Picture 3" descr="logo_stacked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7900" y="952500"/>
            <a:ext cx="2616200" cy="206158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0" y="3153788"/>
            <a:ext cx="12192000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300" b="0" spc="100">
                <a:solidFill>
                  <a:srgbClr val="A1A1A6"/>
                </a:solidFill>
                <a:latin typeface="Pretendard SemiBold"/>
                <a:ea typeface="Pretendard SemiBold"/>
                <a:cs typeface="Pretendard SemiBold"/>
              </a:rPr>
              <a:t>3초 여행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96688"/>
            <a:ext cx="12192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 spc="6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실시간 데이터와 AI로 완성하는 나만의 맞춤 여행 일정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8000" y="5156200"/>
            <a:ext cx="3606800" cy="546100"/>
          </a:xfrm>
          <a:prstGeom prst="roundRect">
            <a:avLst>
              <a:gd name="adj" fmla="val 50000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60400" y="5156200"/>
            <a:ext cx="3302000" cy="546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spc="30">
                <a:solidFill>
                  <a:srgbClr val="F5F5F7"/>
                </a:solidFill>
                <a:latin typeface="Pretendard SemiBold"/>
                <a:ea typeface="Pretendard SemiBold"/>
                <a:cs typeface="Pretendard SemiBold"/>
              </a:rPr>
              <a:t>FastAPI · FE / BE / admin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2600" y="5156200"/>
            <a:ext cx="3606800" cy="546100"/>
          </a:xfrm>
          <a:prstGeom prst="roundRect">
            <a:avLst>
              <a:gd name="adj" fmla="val 50000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445000" y="5156200"/>
            <a:ext cx="3302000" cy="546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spc="30">
                <a:solidFill>
                  <a:srgbClr val="F5F5F7"/>
                </a:solidFill>
                <a:latin typeface="Pretendard SemiBold"/>
                <a:ea typeface="Pretendard SemiBold"/>
                <a:cs typeface="Pretendard SemiBold"/>
              </a:rPr>
              <a:t>Google Places · SerpApi 실시간 요금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77200" y="5156200"/>
            <a:ext cx="3606800" cy="546100"/>
          </a:xfrm>
          <a:prstGeom prst="roundRect">
            <a:avLst>
              <a:gd name="adj" fmla="val 50000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229600" y="5156200"/>
            <a:ext cx="3302000" cy="546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350" b="0" spc="30">
                <a:solidFill>
                  <a:srgbClr val="F5F5F7"/>
                </a:solidFill>
                <a:latin typeface="Pretendard SemiBold"/>
                <a:ea typeface="Pretendard SemiBold"/>
                <a:cs typeface="Pretendard SemiBold"/>
              </a:rPr>
              <a:t>빌드리스 ES-module SPA</a:t>
            </a:r>
          </a:p>
        </p:txBody>
      </p:sp>
      <p:pic>
        <p:nvPicPr>
          <p:cNvPr id="13" name="Picture 12" descr="logo_symbol_rev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"/>
                <a:ea typeface="Pretendard"/>
                <a:cs typeface="Pretendard"/>
              </a:rPr>
              <a:t>프로젝트 소개 ·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CONTENTS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목차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프로젝트 배경부터 구현, 그리고 실제 화면까지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02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51000"/>
            <a:ext cx="3606800" cy="43561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900" y="1892300"/>
            <a:ext cx="317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3900" y="23876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들어가며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3900" y="26924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723900" y="2895600"/>
            <a:ext cx="3175000" cy="2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계기와 문제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솔루션 — 3초 여행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기존 앱과의 차별점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사용자 흐름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숫자로 보는 3초 여행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92600" y="1651000"/>
            <a:ext cx="3606800" cy="43561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508500" y="1892300"/>
            <a:ext cx="317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08500" y="23876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아키텍처 &amp; 구현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08500" y="26924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4508500" y="2895600"/>
            <a:ext cx="3175000" cy="2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시스템 아키텍처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프론트엔드 (FE)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백엔드 (BE)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운영 패널 (admin)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기술 스택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77200" y="1651000"/>
            <a:ext cx="3606800" cy="4356100"/>
          </a:xfrm>
          <a:prstGeom prst="roundRect">
            <a:avLst>
              <a:gd name="adj" fmla="val 316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293100" y="1892300"/>
            <a:ext cx="3175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93100" y="2387600"/>
            <a:ext cx="31750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화면 미리보기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93100" y="26924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293100" y="2895600"/>
            <a:ext cx="3175000" cy="29083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홈 · 새 여행 만들기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일정 — 지도 · 시간표</a:t>
            </a:r>
          </a:p>
          <a:p>
            <a:pPr algn="l">
              <a:lnSpc>
                <a:spcPct val="110000"/>
              </a:lnSpc>
              <a:spcAft>
                <a:spcPts val="1300"/>
              </a:spcAft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탐색 · 마이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8000" y="6121400"/>
            <a:ext cx="11176000" cy="2921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다음 단계  ·  </a:t>
            </a:r>
            <a:r>
              <a:rPr sz="13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MVP 구현 — 핵심 기능부터 실제 제품으로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INTRODUCTION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여행은 설레는데, 계획은 노동이었다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가고 싶은 도시는 정했지만 ‘무엇을 어떤 순서로’가 막막하다 — 기존 방식의 네 가지 한계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03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2679700" cy="298450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41500"/>
            <a:ext cx="23241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717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2987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정보 분산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667000"/>
            <a:ext cx="23241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맛집·명소·숙소가 블로그·지도·예약앱에 흩어져 매번 수작업으로 취합해야 한다.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40100" y="1663700"/>
            <a:ext cx="2679700" cy="298450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517900" y="1841500"/>
            <a:ext cx="23241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517900" y="21717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517900" y="22987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낮은 신뢰도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17900" y="2667000"/>
            <a:ext cx="23241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광고성·오래된 후기가 섞여 있어 진짜 쓸 만한 정보를 가려내기 어렵다.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663700"/>
            <a:ext cx="2679700" cy="298450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000" y="1841500"/>
            <a:ext cx="23241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350000" y="21717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350000" y="22987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개인화 부재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50000" y="2667000"/>
            <a:ext cx="23241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예산·취향·동행자가 반영되지 않은 일반적 추천만 반복된다.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04300" y="1663700"/>
            <a:ext cx="2679700" cy="2984500"/>
          </a:xfrm>
          <a:prstGeom prst="roundRect">
            <a:avLst>
              <a:gd name="adj" fmla="val 3791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9182100" y="1841500"/>
            <a:ext cx="23241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182100" y="21717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9182100" y="2298700"/>
            <a:ext cx="2324100" cy="355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65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실시간성 부족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2100" y="2667000"/>
            <a:ext cx="23241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실제 호텔 요금·혼잡도는 계획과 따로, 매번 별도로 확인해야 한다.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000" y="4826000"/>
            <a:ext cx="11176000" cy="914400"/>
          </a:xfrm>
          <a:prstGeom prst="roundRect">
            <a:avLst>
              <a:gd name="adj" fmla="val 11111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36600" y="4826000"/>
            <a:ext cx="10718800" cy="914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검색 결과는 넘치지만 ‘나에게 맞는 단 하나의 일정표’는 없다.  </a:t>
            </a:r>
            <a:r>
              <a:rPr sz="140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이 간극을 단 몇 번의 선택으로 좁히는 것이 </a:t>
            </a:r>
            <a:r>
              <a:rPr sz="14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‘3초 여행’</a:t>
            </a:r>
            <a:r>
              <a:rPr sz="140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이다.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INTRODUCTION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그래서 만든 ‘3초 여행’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도시·날짜·예산·취향만 입력하면 일자별 로드맵을 자동으로 생성한다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04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3289300" cy="19558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85800" y="1866899"/>
            <a:ext cx="3048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2006600"/>
            <a:ext cx="29337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자동 일정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2336800"/>
            <a:ext cx="29337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입력 몇 가지만으로 일자별 동선을 자동 구성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949700" y="1663700"/>
            <a:ext cx="3289300" cy="19558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4127500" y="1866899"/>
            <a:ext cx="3048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127500" y="2006600"/>
            <a:ext cx="29337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실데이터 기반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27500" y="2336800"/>
            <a:ext cx="29337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실제 Google Places 데이터로 추천 — 가상 장소가 아님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771900"/>
            <a:ext cx="3289300" cy="19558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685800" y="397510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800" y="4114800"/>
            <a:ext cx="29337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지도 기반 편집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4445000"/>
            <a:ext cx="29337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동선을 지도에 시각화하고 드래그로 순서 변경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949700" y="3771900"/>
            <a:ext cx="3289300" cy="1955800"/>
          </a:xfrm>
          <a:prstGeom prst="roundRect">
            <a:avLst>
              <a:gd name="adj" fmla="val 519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4127500" y="3975100"/>
            <a:ext cx="3048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4127500" y="4114800"/>
            <a:ext cx="29337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실시간 비용 반영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27500" y="4445000"/>
            <a:ext cx="2933700" cy="1104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호텔·항공 실시간 요금과 총예산을 한 화면에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467599" y="1663700"/>
            <a:ext cx="4216400" cy="4064000"/>
          </a:xfrm>
          <a:prstGeom prst="roundRect">
            <a:avLst>
              <a:gd name="adj" fmla="val 2812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696199" y="1892300"/>
            <a:ext cx="3759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3초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696199" y="2362200"/>
            <a:ext cx="37591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일정 자동 생성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696199" y="2705100"/>
            <a:ext cx="3759199" cy="762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696199" y="3098800"/>
            <a:ext cx="3759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509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96199" y="3568700"/>
            <a:ext cx="37591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전 세계 도시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696199" y="3911600"/>
            <a:ext cx="3759199" cy="762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696199" y="4305300"/>
            <a:ext cx="3759199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실시간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96199" y="4775200"/>
            <a:ext cx="3759199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호텔 · 항공 요금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INTRODUCTION 03 · 차별점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기존 여행앱과 무엇이 다른가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블로그 검색 · 지도 · 예약앱을 오가던 일을, 하나의 자동 일정으로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05 / 19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8800" y="1663700"/>
            <a:ext cx="1485900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항목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3600" y="1663700"/>
            <a:ext cx="3119966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spc="30">
                <a:solidFill>
                  <a:srgbClr val="6E6E73"/>
                </a:solidFill>
                <a:latin typeface="Pretendard SemiBold"/>
                <a:ea typeface="Pretendard SemiBold"/>
                <a:cs typeface="Pretendard SemiBold"/>
              </a:rPr>
              <a:t>블로그 · 검색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29766" y="1663700"/>
            <a:ext cx="3119966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spc="30">
                <a:solidFill>
                  <a:srgbClr val="6E6E73"/>
                </a:solidFill>
                <a:latin typeface="Pretendard SemiBold"/>
                <a:ea typeface="Pretendard SemiBold"/>
                <a:cs typeface="Pretendard SemiBold"/>
              </a:rPr>
              <a:t>지도 · 예약앱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25933" y="1663700"/>
            <a:ext cx="3119966" cy="355600"/>
          </a:xfrm>
          <a:prstGeom prst="roundRect">
            <a:avLst>
              <a:gd name="adj" fmla="val 21428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525933" y="1663700"/>
            <a:ext cx="3119966" cy="355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 spc="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3초 여행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2070100"/>
            <a:ext cx="15875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22300" y="2070100"/>
            <a:ext cx="139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정보 취합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33600" y="20701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2209800" y="20701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블로그 수작업 취합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329766" y="20701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5405966" y="20701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앱마다 따로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25933" y="20701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EAF2FB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02133" y="20701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✓  한 번에 자동 통합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8000" y="2654300"/>
            <a:ext cx="15875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2300" y="2654300"/>
            <a:ext cx="139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개인화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33600" y="26543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209800" y="26543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일반적인 추천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329766" y="26543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405966" y="26543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거의 없음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25933" y="26543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EAF2FB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602133" y="26543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✓  예산·취향·동행자 반영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8000" y="3238500"/>
            <a:ext cx="15875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22300" y="3238500"/>
            <a:ext cx="139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동선 · 지도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33600" y="32385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2209800" y="32385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직접 정리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329766" y="32385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5405966" y="32385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지도 표시만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525933" y="32385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EAF2FB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602133" y="32385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✓  자동 동선 + 드래그 편집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08000" y="3822700"/>
            <a:ext cx="15875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622300" y="3822700"/>
            <a:ext cx="139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실시간 비용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33600" y="38227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2209800" y="38227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별도로 확인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329766" y="38227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405966" y="38227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부분적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525933" y="38227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EAF2FB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8602133" y="38227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✓  호텔·항공 실시간 합산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08000" y="4406900"/>
            <a:ext cx="1587500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622300" y="4406900"/>
            <a:ext cx="1397000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결과물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133600" y="44069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TextBox 49"/>
          <p:cNvSpPr txBox="1"/>
          <p:nvPr/>
        </p:nvSpPr>
        <p:spPr>
          <a:xfrm>
            <a:off x="2209800" y="44069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검색 결과 나열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5329766" y="44069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5405966" y="44069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✕  </a:t>
            </a:r>
            <a:r>
              <a:rPr sz="12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예약 단건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8525933" y="4406900"/>
            <a:ext cx="3119966" cy="533400"/>
          </a:xfrm>
          <a:prstGeom prst="roundRect">
            <a:avLst>
              <a:gd name="adj" fmla="val 14285"/>
            </a:avLst>
          </a:prstGeom>
          <a:solidFill>
            <a:srgbClr val="EAF2FB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8602133" y="4406900"/>
            <a:ext cx="2967566" cy="533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sz="125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✓  일자별 완성 로드맵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08000" y="5016500"/>
            <a:ext cx="11176000" cy="254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검색·비교·정리에 흩어지던 과정을 </a:t>
            </a: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단일 자동 일정</a:t>
            </a:r>
            <a:r>
              <a:rPr sz="130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으로 압축한다.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INTRODUCTION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4단계, 그리고 3초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도시 → 일정 → 컨셉 → 예산 — 네 단계 입력이면 끝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06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803400"/>
            <a:ext cx="2527300" cy="2667000"/>
          </a:xfrm>
          <a:prstGeom prst="roundRect">
            <a:avLst>
              <a:gd name="adj" fmla="val 452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8000" y="2095499"/>
            <a:ext cx="2527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00200" y="2451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08000" y="2578100"/>
            <a:ext cx="25273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도시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2946400"/>
            <a:ext cx="222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출발·도착 도시
전 세계 509개 검색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35300" y="1803400"/>
            <a:ext cx="355600" cy="2667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90900" y="1803400"/>
            <a:ext cx="2527300" cy="2667000"/>
          </a:xfrm>
          <a:prstGeom prst="roundRect">
            <a:avLst>
              <a:gd name="adj" fmla="val 452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390900" y="2095499"/>
            <a:ext cx="2527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3100" y="2451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3390900" y="2578100"/>
            <a:ext cx="25273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일정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43300" y="2946400"/>
            <a:ext cx="222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여행 날짜와
동행자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8200" y="1803400"/>
            <a:ext cx="355600" cy="2667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73800" y="1803400"/>
            <a:ext cx="2527300" cy="2667000"/>
          </a:xfrm>
          <a:prstGeom prst="roundRect">
            <a:avLst>
              <a:gd name="adj" fmla="val 452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273800" y="2095499"/>
            <a:ext cx="2527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66000" y="2451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6273800" y="2578100"/>
            <a:ext cx="25273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컨셉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26200" y="2946400"/>
            <a:ext cx="222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힐링·가성비 등
여행 스타일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01100" y="1803400"/>
            <a:ext cx="355600" cy="26670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→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156700" y="1803400"/>
            <a:ext cx="2527300" cy="2667000"/>
          </a:xfrm>
          <a:prstGeom prst="roundRect">
            <a:avLst>
              <a:gd name="adj" fmla="val 4522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156700" y="2095499"/>
            <a:ext cx="25273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6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48900" y="2451100"/>
            <a:ext cx="3429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56700" y="2578100"/>
            <a:ext cx="2527300" cy="279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예산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309100" y="2946400"/>
            <a:ext cx="2222500" cy="1333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42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예산·항공·
숙소 취향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8000" y="4686300"/>
            <a:ext cx="11176000" cy="952500"/>
          </a:xfrm>
          <a:prstGeom prst="roundRect">
            <a:avLst>
              <a:gd name="adj" fmla="val 10666"/>
            </a:avLst>
          </a:prstGeom>
          <a:solidFill>
            <a:srgbClr val="F5F5F7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736600" y="4686300"/>
            <a:ext cx="10718800" cy="9525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‘일정 생성’  →  도시 좌표 해석  →  시간대(5)별 장소 검색  →  동선·타임라인·예산 자동 구성
</a:t>
            </a:r>
            <a:r>
              <a:rPr sz="130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결과 · 지도 동선 + 일자별 타임라인 + 예산 집계 + 예약 연결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BY THE NUMBERS · 숫자로 보는 3초 여행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숫자로 보는 3초 여행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데모 한 번에 담긴 규모와 결과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07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9177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509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4638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5908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전 세계 도시 데이터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0100" y="16637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7900" y="19177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3초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7900" y="24638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7900" y="25908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일정 자동 생성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637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0000" y="19177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17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0" y="24638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000" y="25908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백엔드 라우터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4300" y="16637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2100" y="19177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84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2100" y="24638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2100" y="25908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API 엔드포인트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31242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85800" y="33782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11,000+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85800" y="39243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0513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코드 라인 (FE + BE)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340100" y="31242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517900" y="33782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15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517900" y="39243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3517900" y="40513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앱 화면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72200" y="31242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350000" y="33782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4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350000" y="39243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6350000" y="40513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소셜 로그인 (Google·Kakao·Naver·Apple)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004300" y="3124200"/>
            <a:ext cx="2679700" cy="1308100"/>
          </a:xfrm>
          <a:prstGeom prst="roundRect">
            <a:avLst>
              <a:gd name="adj" fmla="val 7766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9182100" y="3378200"/>
            <a:ext cx="2324100" cy="482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0" spc="-3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3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182100" y="3924300"/>
            <a:ext cx="279400" cy="38100"/>
          </a:xfrm>
          <a:prstGeom prst="roundRect">
            <a:avLst>
              <a:gd name="adj" fmla="val 50000"/>
            </a:avLst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182100" y="4051300"/>
            <a:ext cx="2324100" cy="317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독립 단위 (FE·BE·admin)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08000" y="4546600"/>
            <a:ext cx="11176000" cy="609600"/>
          </a:xfrm>
          <a:prstGeom prst="roundRect">
            <a:avLst>
              <a:gd name="adj" fmla="val 16666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736600" y="4546600"/>
            <a:ext cx="107188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예시 · 오사카 3일  </a:t>
            </a:r>
            <a:r>
              <a:rPr sz="1400" b="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9곳 · 39.7km · 1시간 47분   ·   예산 ₩1,200,000 → 실집계 </a:t>
            </a:r>
            <a:r>
              <a:rPr sz="1500" b="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₩1,166,496</a:t>
            </a:r>
            <a:r>
              <a:rPr sz="1300" b="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  (왕복항공 45.8만 + 숙소 14.3만×2박 + 활동 42.3만)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ARCHITECTURE · 전체 구조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프로그램은 세 개의 독립 단위로 구성돼요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프론트엔드 · 백엔드 · 운영 패널 — HTTP로만 통신하고, 모든 비밀키(API·DB)는 서버(BE)에 격리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76400"/>
            <a:ext cx="11176000" cy="279400"/>
          </a:xfrm>
          <a:prstGeom prst="roundRect">
            <a:avLst>
              <a:gd name="adj" fmla="val 18181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73100" y="1676400"/>
            <a:ext cx="11430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6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단위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70100" y="1676400"/>
            <a:ext cx="12700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6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역할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94100" y="1676400"/>
            <a:ext cx="6921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6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설명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769600" y="1676400"/>
            <a:ext cx="8255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 spc="6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포트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8000" y="2044700"/>
            <a:ext cx="11176000" cy="7366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73100" y="2044700"/>
            <a:ext cx="1143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FE 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70100" y="2044700"/>
            <a:ext cx="1270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프론트엔드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94100" y="2044700"/>
            <a:ext cx="6921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사용자가 보는 웹 앱 (브라우저에서 직접 실행)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769600" y="2044700"/>
            <a:ext cx="825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:8080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8000" y="2870200"/>
            <a:ext cx="11176000" cy="736600"/>
          </a:xfrm>
          <a:prstGeom prst="roundRect">
            <a:avLst>
              <a:gd name="adj" fmla="val 10344"/>
            </a:avLst>
          </a:prstGeom>
          <a:solidFill>
            <a:srgbClr val="F5F5F7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73100" y="2870200"/>
            <a:ext cx="1143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BE 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0100" y="2870200"/>
            <a:ext cx="1270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백엔드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94100" y="2870200"/>
            <a:ext cx="6921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요청 처리·데이터 저장·외부 연동을 담당하는 API 서버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69600" y="2870200"/>
            <a:ext cx="825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:8000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695700"/>
            <a:ext cx="11176000" cy="736600"/>
          </a:xfrm>
          <a:prstGeom prst="roundRect">
            <a:avLst>
              <a:gd name="adj" fmla="val 10344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73100" y="3695700"/>
            <a:ext cx="1143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admin /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070100" y="3695700"/>
            <a:ext cx="12700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운영 패널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94100" y="3695700"/>
            <a:ext cx="6921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관리자가 회원·데이터를 관리하는 도구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69600" y="3695700"/>
            <a:ext cx="825500" cy="736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:8090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08000" y="4559300"/>
            <a:ext cx="3623733" cy="609600"/>
          </a:xfrm>
          <a:prstGeom prst="roundRect">
            <a:avLst>
              <a:gd name="adj" fmla="val 1458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85800" y="4559300"/>
            <a:ext cx="3268133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17개  </a:t>
            </a:r>
            <a:r>
              <a:rPr sz="13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라우터 · 84 엔드포인트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84133" y="4559300"/>
            <a:ext cx="3623733" cy="609600"/>
          </a:xfrm>
          <a:prstGeom prst="roundRect">
            <a:avLst>
              <a:gd name="adj" fmla="val 1458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461933" y="4559300"/>
            <a:ext cx="3268133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Fernet  </a:t>
            </a:r>
            <a:r>
              <a:rPr sz="13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개인정보 암호화 저장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60266" y="4559300"/>
            <a:ext cx="3623733" cy="609600"/>
          </a:xfrm>
          <a:prstGeom prst="roundRect">
            <a:avLst>
              <a:gd name="adj" fmla="val 14583"/>
            </a:avLst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238066" y="4559300"/>
            <a:ext cx="3268133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프록시  </a:t>
            </a:r>
            <a:r>
              <a:rPr sz="1350" b="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외부 API는 서버가 호출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FRONTEND · FE/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빌드 없는 단일 페이지 앱(SPA)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번들러 없이 ES Module을 브라우저가 직접 로드하는 경량 구조 · FE 모듈 20개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09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66370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166370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SPA · 해시 라우팅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166370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새로고침 없이 #page=… 로 화면 전환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251968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251968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900" y="251968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공유 상태 부트스트랩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900" y="251968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appState 생성 후 각 모듈을 초기화 (main.js)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37566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000" y="337566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00" y="337566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API 어댑터로 통신 단일화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337566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백엔드 호출을 한 곳에 모으고 JWT 토큰 자동 첨부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" y="423164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000" y="423164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900" y="423164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일정 생성은 클라이언트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423164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Google Places 검색을 조합해 브라우저에서 직접 생성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508762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" y="508762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900" y="508762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로컬 저장 + 캐시 관리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508762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localStorage 스냅샷, 버전 변경 시 옛 데이터 정리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58100" y="1663700"/>
            <a:ext cx="4025900" cy="4190999"/>
          </a:xfrm>
          <a:prstGeom prst="roundRect">
            <a:avLst>
              <a:gd name="adj" fmla="val 2839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74000" y="1879599"/>
            <a:ext cx="359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설계 규칙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4000" y="21717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74000" y="2374900"/>
            <a:ext cx="3594100" cy="330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무캐시 정적 서버로 개발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UI 문구는 한국어로 통일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모듈마다 init + render 패턴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DOM 이벤트로 화면 간 갱신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BACKEND · BE/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계층형 FastAPI 서버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라우팅 · 인증 · 암호화 · DB 추상화 · 외부 API 프록시 — 라우터 17개 · 엔드포인트 84개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10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66370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166370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도메인별 라우터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166370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일정·회원·호텔 등 기능 단위로 분리, 기동 시 DB 초기화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251968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251968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900" y="251968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JWT 인증 게이트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900" y="251968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토큰을 검증해 공개·회원·관리자 접근 제어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37566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000" y="337566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00" y="337566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개인정보 암호화 저장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337566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이름·전화번호를 Fernet로 암호화 (조회는 별도 컬럼)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" y="423164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000" y="423164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900" y="423164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DB 추상화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423164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로컬 SQLite ↔ 운영 PostgreSQL 무중단 전환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508762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" y="508762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900" y="508762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외부 호출은 서버 프록시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508762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지도·호텔요금·AI를 서버가 호출해 API 키 은닉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58100" y="1663700"/>
            <a:ext cx="4025900" cy="4190999"/>
          </a:xfrm>
          <a:prstGeom prst="roundRect">
            <a:avLst>
              <a:gd name="adj" fmla="val 2839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74000" y="1879599"/>
            <a:ext cx="359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운영 원칙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4000" y="21717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74000" y="2374900"/>
            <a:ext cx="3594100" cy="330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비밀키는 .env에만 (프론트 미노출)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기동 시 기본 데이터 자동 시딩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호텔 실시간 요금도 서버 프록시 경유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마이그레이션 실패해도 기동은 지속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ADMIN · ADMIN/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분리된 운영 패널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정적 HTML/JS로 운영 데이터를 점검·관리하는 독립 도구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11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6370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8000" y="166370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723900" y="166370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가벼운 정적 패널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900" y="166370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빌드 없이 실행 (:8090)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8000" y="251968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508000" y="251968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723900" y="251968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관리자 전용 접근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28900" y="251968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관리자 권한 검사(미통과 시 403)로 보호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8000" y="337566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508000" y="337566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23900" y="337566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권한 부여 CLI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8900" y="337566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make_admin.py로 계정을 관리자로 지정/회수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8000" y="423164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8000" y="423164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23900" y="423164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운영 데이터 점검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628900" y="423164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회원·로드맵·피드백 등을 한눈에 관리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5087620"/>
            <a:ext cx="6921500" cy="767080"/>
          </a:xfrm>
          <a:prstGeom prst="roundRect">
            <a:avLst>
              <a:gd name="adj" fmla="val 11589"/>
            </a:avLst>
          </a:prstGeom>
          <a:solidFill>
            <a:srgbClr val="FFFFFF"/>
          </a:solidFill>
          <a:ln w="12700">
            <a:solidFill>
              <a:srgbClr val="E2E2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508000" y="5087620"/>
            <a:ext cx="50800" cy="767080"/>
          </a:xfrm>
          <a:prstGeom prst="rect">
            <a:avLst/>
          </a:prstGeom>
          <a:solidFill>
            <a:srgbClr val="006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723900" y="5087620"/>
            <a:ext cx="17780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 spc="5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BE 경유 원칙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28900" y="5087620"/>
            <a:ext cx="4610100" cy="767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30000"/>
              </a:lnSpc>
            </a:pPr>
            <a:r>
              <a:rPr sz="130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DB 직접 접근 없이 서버 API를 통해서만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58100" y="1663700"/>
            <a:ext cx="4025900" cy="4190999"/>
          </a:xfrm>
          <a:prstGeom prst="roundRect">
            <a:avLst>
              <a:gd name="adj" fmla="val 2839"/>
            </a:avLst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874000" y="1879599"/>
            <a:ext cx="359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분리 이유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874000" y="21717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7874000" y="2374900"/>
            <a:ext cx="3594100" cy="330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사용자 앱과 운영 도구를 물리적으로 분리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운영 권한·배포 리스크 최소화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관리 코드가 사용자 번들에 미혼입</a:t>
            </a:r>
          </a:p>
          <a:p>
            <a:pPr algn="l">
              <a:lnSpc>
                <a:spcPct val="130000"/>
              </a:lnSpc>
              <a:spcAft>
                <a:spcPts val="1600"/>
              </a:spcAft>
            </a:pPr>
            <a:r>
              <a:rPr sz="14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서버 권한 게이트로 접근 통제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A8A8E"/>
                </a:solidFill>
                <a:latin typeface="Pretendard SemiBold"/>
                <a:ea typeface="Pretendard SemiBold"/>
                <a:cs typeface="Pretendard SemiBold"/>
              </a:rPr>
              <a:t>TECH STACK · 사용 기술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기술 스택 요약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프론트엔드 · 백엔드 · 데이터/외부 · 배포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"/>
                <a:ea typeface="Pretendard"/>
                <a:cs typeface="Pretendard"/>
              </a:rPr>
              <a:t>12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76400"/>
            <a:ext cx="2679700" cy="3683000"/>
          </a:xfrm>
          <a:prstGeom prst="roundRect">
            <a:avLst>
              <a:gd name="adj" fmla="val 4265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1892300"/>
            <a:ext cx="232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Frontend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1971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" y="2387600"/>
            <a:ext cx="2324100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Vanilla JS (ES Modules)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Google Maps JS API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빌드리스 SPA · 해시 라우팅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40100" y="1676400"/>
            <a:ext cx="2679700" cy="3683000"/>
          </a:xfrm>
          <a:prstGeom prst="roundRect">
            <a:avLst>
              <a:gd name="adj" fmla="val 4265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517900" y="1892300"/>
            <a:ext cx="232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Backend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517900" y="21971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3517900" y="2387600"/>
            <a:ext cx="2324100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FastAPI · SQLAlchemy 2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JWT 인증 · Fernet 암호화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httpx 비동기 외부 호출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1676400"/>
            <a:ext cx="2679700" cy="3683000"/>
          </a:xfrm>
          <a:prstGeom prst="roundRect">
            <a:avLst>
              <a:gd name="adj" fmla="val 4265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350000" y="1892300"/>
            <a:ext cx="232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Data / 외부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350000" y="21971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350000" y="2387600"/>
            <a:ext cx="2324100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Google Places · Routes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SerpApi (호텔·항공 실시간)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OpenAI 프록시 · OAuth 4종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4300" y="1676400"/>
            <a:ext cx="2679700" cy="3683000"/>
          </a:xfrm>
          <a:prstGeom prst="roundRect">
            <a:avLst>
              <a:gd name="adj" fmla="val 4265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182100" y="1892300"/>
            <a:ext cx="2324100" cy="254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spc="5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배포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182100" y="2197100"/>
            <a:ext cx="330200" cy="38100"/>
          </a:xfrm>
          <a:prstGeom prst="roundRect">
            <a:avLst>
              <a:gd name="adj" fmla="val 50000"/>
            </a:avLst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82100" y="2387600"/>
            <a:ext cx="2324100" cy="284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Render Blueprint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SQLite → PostgreSQL 전환</a:t>
            </a:r>
          </a:p>
          <a:p>
            <a:pPr algn="l">
              <a:lnSpc>
                <a:spcPct val="130000"/>
              </a:lnSpc>
              <a:spcAft>
                <a:spcPts val="1800"/>
              </a:spcAft>
            </a:pPr>
            <a:r>
              <a:rPr sz="135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· </a:t>
            </a:r>
            <a:r>
              <a:rPr sz="1350" b="0" spc="20">
                <a:solidFill>
                  <a:srgbClr val="F5F5F7"/>
                </a:solidFill>
                <a:latin typeface="Pretendard"/>
                <a:ea typeface="Pretendard"/>
                <a:cs typeface="Pretendard"/>
              </a:rPr>
              <a:t>비밀키 .env 일원화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8000" y="5549900"/>
            <a:ext cx="11176000" cy="609600"/>
          </a:xfrm>
          <a:prstGeom prst="roundRect">
            <a:avLst>
              <a:gd name="adj" fmla="val 16666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08000" y="5549900"/>
            <a:ext cx="111760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0" spc="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검색에 쓰던 몇 시간을, 3초로.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홈 — 추천·인기 로드맵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도착 도시와 분위기를 고르며 시작하는 첫 화면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13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1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검색 + 컨셉 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도착 도시 검색과 분위기 칩으로 시작</a:t>
            </a:r>
          </a:p>
        </p:txBody>
      </p:sp>
      <p:pic>
        <p:nvPicPr>
          <p:cNvPr id="15" name="Picture 14" descr="s11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인기·추천 로드맵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좋아요 수와 함께 카드로 큐레이션</a:t>
            </a:r>
          </a:p>
        </p:txBody>
      </p:sp>
      <p:pic>
        <p:nvPicPr>
          <p:cNvPr id="18" name="Picture 17" descr="s11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여행자 후기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실제 후기로 신뢰도 제공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새 여행 만들기 — 4단계 위저드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도시 → 일정 → 컨셉 → 예산 순서로 입력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14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2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4단계 + 도시 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단계 표시와 출발·도착 도시 입력</a:t>
            </a:r>
          </a:p>
        </p:txBody>
      </p:sp>
      <p:pic>
        <p:nvPicPr>
          <p:cNvPr id="15" name="Picture 14" descr="s12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도시 자동완성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입력 시 도시·국가를 즉시 검색</a:t>
            </a:r>
          </a:p>
        </p:txBody>
      </p:sp>
      <p:pic>
        <p:nvPicPr>
          <p:cNvPr id="18" name="Picture 17" descr="s12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인기 도시 바로가기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자주 찾는 도시는 원클릭 선택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만든 일정 — 지도로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하루 동선을 지도 위에 시각화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15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3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Day 탭 · 동선 지도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방문지를 번호·경로로 지도에 표시</a:t>
            </a:r>
          </a:p>
        </p:txBody>
      </p:sp>
      <p:pic>
        <p:nvPicPr>
          <p:cNvPr id="15" name="Picture 14" descr="s13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이동수단 · 경로 요약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거리·시간·정거장을 한눈에</a:t>
            </a:r>
          </a:p>
        </p:txBody>
      </p:sp>
      <p:pic>
        <p:nvPicPr>
          <p:cNvPr id="18" name="Picture 17" descr="s13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전체 예산 합계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항공·숙소·활동 비용을 집계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만든 일정 — 시간표로 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시간대별 일정과 실제 비용을 함께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16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4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시간대별 일정 카드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시간·카테고리·예상비용을 카드로</a:t>
            </a:r>
          </a:p>
        </p:txBody>
      </p:sp>
      <p:pic>
        <p:nvPicPr>
          <p:cNvPr id="15" name="Picture 14" descr="s14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실시간 호텔 요금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SerpApi로 실제 1박가를 반영</a:t>
            </a:r>
          </a:p>
        </p:txBody>
      </p:sp>
      <p:pic>
        <p:nvPicPr>
          <p:cNvPr id="18" name="Picture 17" descr="s14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혼잡도·현지인 비율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장소별 추정 지표를 함께 제공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탐색 — 로드맵 둘러보기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도시별 추천 일정을 탐색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17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5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검색·정렬·필터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인기·최신·좋아요 + 컨셉 태그</a:t>
            </a:r>
          </a:p>
        </p:txBody>
      </p:sp>
      <p:pic>
        <p:nvPicPr>
          <p:cNvPr id="15" name="Picture 14" descr="s15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로드맵 카드 갤러리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도시별 추천 일정을 이미지 카드로</a:t>
            </a:r>
          </a:p>
        </p:txBody>
      </p:sp>
      <p:pic>
        <p:nvPicPr>
          <p:cNvPr id="18" name="Picture 17" descr="s15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더 많은 로드맵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전 세계 추천 일정 둘러보기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5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SCREEN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마이 — 내 여행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저장한 일정과 내 활동을 관리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E2E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6868B"/>
                </a:solidFill>
                <a:latin typeface="Pretendard"/>
                <a:ea typeface="Pretendard"/>
                <a:cs typeface="Pretendard"/>
              </a:rPr>
              <a:t>18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10800" y="952500"/>
            <a:ext cx="1473200" cy="27940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7780">
            <a:solidFill>
              <a:srgbClr val="0066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210800" y="952500"/>
            <a:ext cx="1473200" cy="2794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  <a:hlinkClick r:id="rId3"/>
              </a:rPr>
              <a:t>▶  라이브 데모 열기</a:t>
            </a:r>
          </a:p>
        </p:txBody>
      </p:sp>
      <p:pic>
        <p:nvPicPr>
          <p:cNvPr id="12" name="Picture 11" descr="s16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25012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3" name="TextBox 12"/>
          <p:cNvSpPr txBox="1"/>
          <p:nvPr/>
        </p:nvSpPr>
        <p:spPr>
          <a:xfrm>
            <a:off x="508000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01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계정 · 활동 메뉴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400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저장 일정·로드맵·후기·취향</a:t>
            </a:r>
          </a:p>
        </p:txBody>
      </p:sp>
      <p:pic>
        <p:nvPicPr>
          <p:cNvPr id="15" name="Picture 14" descr="s16_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77345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6" name="TextBox 15"/>
          <p:cNvSpPr txBox="1"/>
          <p:nvPr/>
        </p:nvSpPr>
        <p:spPr>
          <a:xfrm>
            <a:off x="4360333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02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취향 분석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12733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설문으로 맞춤 추천을 강화</a:t>
            </a:r>
          </a:p>
        </p:txBody>
      </p:sp>
      <p:pic>
        <p:nvPicPr>
          <p:cNvPr id="18" name="Picture 17" descr="s16_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29678" y="1739900"/>
            <a:ext cx="1637308" cy="3543300"/>
          </a:xfrm>
          <a:prstGeom prst="rect">
            <a:avLst/>
          </a:prstGeom>
          <a:effectLst>
            <a:outerShdw blurRad="323850" dist="114300" dir="5400000" rotWithShape="0">
              <a:srgbClr val="000000">
                <a:alpha val="22000"/>
              </a:srgbClr>
            </a:outerShdw>
          </a:effectLst>
        </p:spPr>
      </p:pic>
      <p:sp>
        <p:nvSpPr>
          <p:cNvPr id="19" name="TextBox 18"/>
          <p:cNvSpPr txBox="1"/>
          <p:nvPr/>
        </p:nvSpPr>
        <p:spPr>
          <a:xfrm>
            <a:off x="8212666" y="5461000"/>
            <a:ext cx="3471333" cy="215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0066CC"/>
                </a:solidFill>
                <a:latin typeface="Pretendard SemiBold"/>
                <a:ea typeface="Pretendard SemiBold"/>
                <a:cs typeface="Pretendard SemiBold"/>
              </a:rPr>
              <a:t>03   </a:t>
            </a:r>
            <a:r>
              <a:rPr sz="1500" b="0" spc="30">
                <a:solidFill>
                  <a:srgbClr val="1D1D1F"/>
                </a:solidFill>
                <a:latin typeface="Pretendard SemiBold"/>
                <a:ea typeface="Pretendard SemiBold"/>
                <a:cs typeface="Pretendard SemiBold"/>
              </a:rPr>
              <a:t>환경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65066" y="5702300"/>
            <a:ext cx="31665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1250" b="0" spc="20">
                <a:solidFill>
                  <a:srgbClr val="6E6E73"/>
                </a:solidFill>
                <a:latin typeface="Pretendard"/>
                <a:ea typeface="Pretendard"/>
                <a:cs typeface="Pretendard"/>
              </a:rPr>
              <a:t>언어·다크모드·알림·데이터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D1D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8000" y="355600"/>
            <a:ext cx="11176000" cy="177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50" b="0" spc="280">
                <a:solidFill>
                  <a:srgbClr val="8A8A8E"/>
                </a:solidFill>
                <a:latin typeface="Pretendard SemiBold"/>
                <a:ea typeface="Pretendard SemiBold"/>
                <a:cs typeface="Pretendard SemiBold"/>
              </a:rPr>
              <a:t>NEXT STEP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8000" y="558800"/>
            <a:ext cx="11176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100" b="0" spc="10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지금은 MVP, 다음은 제품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8000" y="1028700"/>
            <a:ext cx="11176000" cy="2667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 b="0" spc="6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핵심 기능부터 실제 제품으로 — 데모를 넘어서기 위한 다음 단계</a:t>
            </a:r>
          </a:p>
        </p:txBody>
      </p:sp>
      <p:sp>
        <p:nvSpPr>
          <p:cNvPr id="6" name="Rectangle 5"/>
          <p:cNvSpPr/>
          <p:nvPr/>
        </p:nvSpPr>
        <p:spPr>
          <a:xfrm>
            <a:off x="508000" y="1371600"/>
            <a:ext cx="11176000" cy="8890"/>
          </a:xfrm>
          <a:prstGeom prst="rect">
            <a:avLst/>
          </a:prstGeom>
          <a:solidFill>
            <a:srgbClr val="3A3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logo_symbol_re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8000" y="6553200"/>
            <a:ext cx="174662" cy="1333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46162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 SemiBold"/>
                <a:ea typeface="Pretendard SemiBold"/>
                <a:cs typeface="Pretendard SemiBold"/>
              </a:rPr>
              <a:t>3SecondTrip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9000" y="6553200"/>
            <a:ext cx="3175000" cy="152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000" b="0">
                <a:solidFill>
                  <a:srgbClr val="8A8A8E"/>
                </a:solidFill>
                <a:latin typeface="Pretendard"/>
                <a:ea typeface="Pretendard"/>
                <a:cs typeface="Pretendard"/>
              </a:rPr>
              <a:t>19 / 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8000" y="1676400"/>
            <a:ext cx="3623733" cy="825500"/>
          </a:xfrm>
          <a:prstGeom prst="roundRect">
            <a:avLst>
              <a:gd name="adj" fmla="val 12307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8500" y="1765300"/>
            <a:ext cx="32427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3개 단위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8500" y="2171700"/>
            <a:ext cx="324273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FE · BE · admin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84133" y="1676400"/>
            <a:ext cx="3623733" cy="825500"/>
          </a:xfrm>
          <a:prstGeom prst="roundRect">
            <a:avLst>
              <a:gd name="adj" fmla="val 12307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74633" y="1765300"/>
            <a:ext cx="32427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17개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4633" y="2171700"/>
            <a:ext cx="324273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도메인 라우터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60266" y="1676400"/>
            <a:ext cx="3623733" cy="825500"/>
          </a:xfrm>
          <a:prstGeom prst="roundRect">
            <a:avLst>
              <a:gd name="adj" fmla="val 12307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50766" y="1765300"/>
            <a:ext cx="3242733" cy="381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실시간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50766" y="2171700"/>
            <a:ext cx="3242733" cy="190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 spc="30">
                <a:solidFill>
                  <a:srgbClr val="A1A1A6"/>
                </a:solidFill>
                <a:latin typeface="Pretendard"/>
                <a:ea typeface="Pretendard"/>
                <a:cs typeface="Pretendard"/>
              </a:rPr>
              <a:t>호텔 · 항공 요금 연동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8000" y="2730500"/>
            <a:ext cx="5511800" cy="609600"/>
          </a:xfrm>
          <a:prstGeom prst="roundRect">
            <a:avLst>
              <a:gd name="adj" fmla="val 14583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508000" y="2730500"/>
            <a:ext cx="50800" cy="6096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98500" y="2730500"/>
            <a:ext cx="51308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01</a:t>
            </a:r>
            <a:r>
              <a:rPr sz="1500" b="0" spc="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영속 DB 전환 (SQLite → PostgreSQL)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2730500"/>
            <a:ext cx="5511800" cy="609600"/>
          </a:xfrm>
          <a:prstGeom prst="roundRect">
            <a:avLst>
              <a:gd name="adj" fmla="val 14583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6172200" y="2730500"/>
            <a:ext cx="50800" cy="6096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362700" y="2730500"/>
            <a:ext cx="51308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02</a:t>
            </a:r>
            <a:r>
              <a:rPr sz="1500" b="0" spc="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추천 품질 고도화 (취향·혼잡도 반영)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8000" y="3492500"/>
            <a:ext cx="5511800" cy="609600"/>
          </a:xfrm>
          <a:prstGeom prst="roundRect">
            <a:avLst>
              <a:gd name="adj" fmla="val 14583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8000" y="3492500"/>
            <a:ext cx="50800" cy="6096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98500" y="3492500"/>
            <a:ext cx="51308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03</a:t>
            </a:r>
            <a:r>
              <a:rPr sz="1500" b="0" spc="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예약·결제 연결 확장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72200" y="3492500"/>
            <a:ext cx="5511800" cy="609600"/>
          </a:xfrm>
          <a:prstGeom prst="roundRect">
            <a:avLst>
              <a:gd name="adj" fmla="val 14583"/>
            </a:avLst>
          </a:prstGeom>
          <a:solidFill>
            <a:srgbClr val="2727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Rectangle 28"/>
          <p:cNvSpPr/>
          <p:nvPr/>
        </p:nvSpPr>
        <p:spPr>
          <a:xfrm>
            <a:off x="6172200" y="3492500"/>
            <a:ext cx="50800" cy="609600"/>
          </a:xfrm>
          <a:prstGeom prst="rect">
            <a:avLst/>
          </a:prstGeom>
          <a:solidFill>
            <a:srgbClr val="2997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362700" y="3492500"/>
            <a:ext cx="5130800" cy="609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2997FF"/>
                </a:solidFill>
                <a:latin typeface="Pretendard SemiBold"/>
                <a:ea typeface="Pretendard SemiBold"/>
                <a:cs typeface="Pretendard SemiBold"/>
              </a:rPr>
              <a:t>04</a:t>
            </a:r>
            <a:r>
              <a:rPr sz="1500" b="0" spc="3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   공개 배포 · 성능/보안 하드닝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4279900"/>
            <a:ext cx="12192000" cy="4445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0" spc="50">
                <a:solidFill>
                  <a:srgbClr val="FFFFFF"/>
                </a:solidFill>
                <a:latin typeface="Pretendard SemiBold"/>
                <a:ea typeface="Pretendard SemiBold"/>
                <a:cs typeface="Pretendard SemiBold"/>
              </a:rPr>
              <a:t>검색에 쓰던 몇 시간을, 3초로.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1608</Words>
  <Application>Microsoft Macintosh PowerPoint</Application>
  <PresentationFormat>와이드스크린</PresentationFormat>
  <Paragraphs>337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4" baseType="lpstr">
      <vt:lpstr>Pretendard</vt:lpstr>
      <vt:lpstr>Pretendard SemiBold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안 미경</cp:lastModifiedBy>
  <cp:revision>1</cp:revision>
  <dcterms:created xsi:type="dcterms:W3CDTF">2013-01-27T09:14:16Z</dcterms:created>
  <dcterms:modified xsi:type="dcterms:W3CDTF">2026-06-10T09:20:40Z</dcterms:modified>
  <cp:category/>
</cp:coreProperties>
</file>